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8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256032" cy="1645920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5663" y="3840480"/>
            <a:ext cx="256032" cy="3017520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08176" y="1234440"/>
            <a:ext cx="9448495" cy="4023360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1188720"/>
            <a:ext cx="9448495" cy="4023360"/>
          </a:xfrm>
          <a:prstGeom prst="roundRect">
            <a:avLst/>
          </a:prstGeom>
          <a:solidFill>
            <a:srgbClr val="060812"/>
          </a:solidFill>
          <a:ln w="6350">
            <a:solidFill>
              <a:srgbClr val="38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0" y="1188720"/>
            <a:ext cx="4114800" cy="41148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46304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F2F2FA"/>
                </a:solidFill>
                <a:latin typeface="Consolas" panose="020B0609020204030204"/>
              </a:defRPr>
            </a:pPr>
            <a:r>
              <a:t>ScintillaOS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8534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38E4FF"/>
                </a:solidFill>
                <a:latin typeface="微软雅黑" panose="020B0503020204020204" charset="-122"/>
              </a:defRPr>
            </a:pPr>
            <a:r>
              <a:t>基于 Rust 的操作系统内核设计报告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43200"/>
            <a:ext cx="8534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093A8"/>
                </a:solidFill>
                <a:latin typeface="Consolas" panose="020B0609020204030204"/>
              </a:defRPr>
            </a:pPr>
            <a:r>
              <a:t>RISC-V 64  ·  LoongArch 64  ·  QEMU virt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246120"/>
            <a:ext cx="1828800" cy="27432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42900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E4F"/>
                </a:solidFill>
                <a:latin typeface="微软雅黑" panose="020B0503020204020204" charset="-122"/>
              </a:defRPr>
            </a:pPr>
            <a:r>
              <a:t>2026 全国大学生系统能力大赛 · 操作系统设计赛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77639"/>
            <a:ext cx="8534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2026 年 6 月</a:t>
            </a:r>
          </a:p>
        </p:txBody>
      </p:sp>
      <p:pic>
        <p:nvPicPr>
          <p:cNvPr id="15" name="图片 14" descr="校徽：直径60c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2375" y="1864360"/>
            <a:ext cx="2672715" cy="26714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目  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325880"/>
            <a:ext cx="475488" cy="475488"/>
          </a:xfrm>
          <a:prstGeom prst="round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80A14"/>
                </a:solidFill>
                <a:latin typeface="Consolas" panose="020B0609020204030204"/>
              </a:defRPr>
            </a:pPr>
            <a: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1563624"/>
            <a:ext cx="274320" cy="22860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3441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项目概述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63677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背景 · 技术路线 · 系统特征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167128"/>
            <a:ext cx="475488" cy="475488"/>
          </a:xfrm>
          <a:prstGeom prst="round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21284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80A14"/>
                </a:solidFill>
                <a:latin typeface="Consolas" panose="020B0609020204030204"/>
              </a:defRPr>
            </a:pPr>
            <a: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2404872"/>
            <a:ext cx="274320" cy="22860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2185416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总体架构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47802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系统分层设计与启动流程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008376"/>
            <a:ext cx="475488" cy="475488"/>
          </a:xfrm>
          <a:prstGeom prst="round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05409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80A14"/>
                </a:solidFill>
                <a:latin typeface="Consolas" panose="020B0609020204030204"/>
              </a:defRPr>
            </a:pPr>
            <a: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08760" y="3246120"/>
            <a:ext cx="274320" cy="22860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302666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核心模块设计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31927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VFS · 进程与CoW · 内存管理 · 网络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849624"/>
            <a:ext cx="475488" cy="475488"/>
          </a:xfrm>
          <a:prstGeom prst="roundRect">
            <a:avLst/>
          </a:prstGeom>
          <a:solidFill>
            <a:srgbClr val="FF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89534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80A14"/>
                </a:solidFill>
                <a:latin typeface="Consolas" panose="020B0609020204030204"/>
              </a:defRPr>
            </a:pPr>
            <a: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4087368"/>
            <a:ext cx="274320" cy="22860"/>
          </a:xfrm>
          <a:prstGeom prst="rect">
            <a:avLst/>
          </a:prstGeom>
          <a:solidFill>
            <a:srgbClr val="FF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3867911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设计特色与安全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160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File trait 一切皆文件 + Rust 内存安全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690872"/>
            <a:ext cx="475488" cy="475488"/>
          </a:xfrm>
          <a:prstGeom prst="round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736592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80A14"/>
                </a:solidFill>
                <a:latin typeface="Consolas" panose="020B0609020204030204"/>
              </a:defRPr>
            </a:pPr>
            <a:r>
              <a:t>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08760" y="4928616"/>
            <a:ext cx="274320" cy="2286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4709159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测试与验证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50017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测试体系与已有结果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532120"/>
            <a:ext cx="475488" cy="475488"/>
          </a:xfrm>
          <a:prstGeom prst="roundRect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57784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80A14"/>
                </a:solidFill>
                <a:latin typeface="Consolas" panose="020B0609020204030204"/>
              </a:defRPr>
            </a:pPr>
            <a:r>
              <a:t>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08760" y="5769864"/>
            <a:ext cx="274320" cy="22860"/>
          </a:xfrm>
          <a:prstGeom prst="rect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20240" y="555040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8430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开发过程 · 心得 · 后续计划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>
                <a:solidFill>
                  <a:srgbClr val="101426"/>
                </a:solidFill>
                <a:latin typeface="Consolas" panose="020B0609020204030204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项目概述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背景 · 技术路线 · 系统特征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840480"/>
            <a:ext cx="73152" cy="73152"/>
          </a:xfrm>
          <a:prstGeom prst="ellipse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39696" y="3840480"/>
            <a:ext cx="73152" cy="73152"/>
          </a:xfrm>
          <a:prstGeom prst="ellipse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23744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07791" y="3840480"/>
            <a:ext cx="73152" cy="73152"/>
          </a:xfrm>
          <a:prstGeom prst="ellipse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91840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75887" y="3840480"/>
            <a:ext cx="73152" cy="73152"/>
          </a:xfrm>
          <a:prstGeom prst="ellipse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59935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256032" cy="1645920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5663" y="3840480"/>
            <a:ext cx="256032" cy="3017520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图片 14" descr="ran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380" y="759460"/>
            <a:ext cx="8903970" cy="5339080"/>
          </a:xfrm>
          <a:prstGeom prst="rect">
            <a:avLst/>
          </a:prstGeom>
        </p:spPr>
      </p:pic>
      <p:pic>
        <p:nvPicPr>
          <p:cNvPr id="16" name="图片 15" descr="Sco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520" y="626745"/>
            <a:ext cx="7172960" cy="54717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系统定位与设计目标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1513840"/>
            <a:ext cx="539496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68120"/>
            <a:ext cx="539496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68120"/>
            <a:ext cx="5120640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0527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🎯  项目定位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07032"/>
            <a:ext cx="502920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基于 rCore-Tutorial 教学内核扩展而来的竞赛型内核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采用 Rust 语言编写，no_std 裸机运行时环境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宏内核架构，各子系统运行在内核态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继承 rCore 的启动、陷阱、任务切换和虚拟内存框架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面向 2026 年全国大学生 OS 大赛 QEMU 评测环境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1513840"/>
            <a:ext cx="539496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468120"/>
            <a:ext cx="539496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468120"/>
            <a:ext cx="5120640" cy="32004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0527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🎯  技术路线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07032"/>
            <a:ext cx="502920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从 rCore 的最小内核闭环出发，向 Linux 兼容语义扩展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文件系统：从单 Ext4 实例迁移到可挂载 VFS + 双盘结构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内存管理：引入 CoW、按需分页与 mmap/munmap 支持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进程模型：扩展为 fork/exec/wait + 信号 + fd 继承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网络：集成 smoltcp 协议栈，支持 TCP/UDP socket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" y="3476307"/>
            <a:ext cx="11247120" cy="1257300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430587"/>
            <a:ext cx="11247120" cy="1257300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430587"/>
            <a:ext cx="10972800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6774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📊  设计原则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69499"/>
            <a:ext cx="10881360" cy="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2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ScintillaOS 以 rCore 提供的启动、陷阱、进程和内存框架为基础，围绕 Linux 应用兼容需求进行系统性扩展。</a:t>
            </a:r>
          </a:p>
          <a:p>
            <a:pPr>
              <a:spcAft>
                <a:spcPts val="420"/>
              </a:spcAft>
              <a:defRPr sz="12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系统将路径解析与具体文件系统实现解耦，使同一套 fd 接口能够统一管理普通文件、管道、设备和 socket。</a:t>
            </a:r>
          </a:p>
          <a:p>
            <a:pPr>
              <a:spcAft>
                <a:spcPts val="420"/>
              </a:spcAft>
              <a:defRPr sz="12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当前范围以单核 QEMU 功能兼容为主，复杂 POSIX 语义和多核行为以实际测试覆盖为准。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系统特征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1371600"/>
            <a:ext cx="3520440" cy="1428750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520440" cy="1428750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3246120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39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处理器模型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64792"/>
            <a:ext cx="3154680" cy="898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单核 UP 同步模型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FIFO 就绪队列 + 时钟中断轮转调度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UPSafeCell&lt;T&gt; 内部可变性包装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不宣称多核 SMP 可用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371600"/>
            <a:ext cx="3520440" cy="1428750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325880"/>
            <a:ext cx="3520440" cy="1428750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325880"/>
            <a:ext cx="3246120" cy="32004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463039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体系结构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764792"/>
            <a:ext cx="3154680" cy="898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RISC-V 64：主力评测目标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LoongArch 64：第二适配平台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QEMU virt + RustSBI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SV39 三级页表，4 KiB 页面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4736" y="1371600"/>
            <a:ext cx="3520440" cy="1428750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325880"/>
            <a:ext cx="3520440" cy="1428750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325880"/>
            <a:ext cx="3246120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463039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文件系统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764792"/>
            <a:ext cx="3154680" cy="898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Ext4 格式，lwext4_rust 接入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VFS / Dentry / 挂载表分层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双盘设计：根盘 + 测试盘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/proc 与 /dev 特殊文件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2895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200">
                <a:solidFill>
                  <a:srgbClr val="9093A8"/>
                </a:solidFill>
                <a:latin typeface="Consolas" panose="020B0609020204030204"/>
              </a:defRPr>
            </a:pPr>
            <a:r>
              <a:t>■ 系统接口：约 120 个系统调用 · VirtIO 块设备+网卡 · GNU Make+Cargo · GDB远程调试</a:t>
            </a:r>
          </a:p>
          <a:p>
            <a:pPr>
              <a:spcAft>
                <a:spcPts val="420"/>
              </a:spcAft>
              <a:defRPr sz="1200">
                <a:solidFill>
                  <a:srgbClr val="9093A8"/>
                </a:solidFill>
                <a:latin typeface="Consolas" panose="020B0609020204030204"/>
              </a:defRPr>
            </a:pPr>
            <a:r>
              <a:t>  ■ 测试集：basic(32/32) · BusyBox · LTP子集 · IOzone · iperf3 · lmbench · Lua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>
                <a:solidFill>
                  <a:srgbClr val="101426"/>
                </a:solidFill>
                <a:latin typeface="Consolas" panose="020B0609020204030204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总体架构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系统分层设计与启动流程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840480"/>
            <a:ext cx="73152" cy="73152"/>
          </a:xfrm>
          <a:prstGeom prst="ellipse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39696" y="3840480"/>
            <a:ext cx="73152" cy="73152"/>
          </a:xfrm>
          <a:prstGeom prst="ellipse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23744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07791" y="3840480"/>
            <a:ext cx="73152" cy="73152"/>
          </a:xfrm>
          <a:prstGeom prst="ellipse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91840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75887" y="3840480"/>
            <a:ext cx="73152" cy="73152"/>
          </a:xfrm>
          <a:prstGeom prst="ellipse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59935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总体架构图</a:t>
            </a:r>
          </a:p>
        </p:txBody>
      </p:sp>
      <p:pic>
        <p:nvPicPr>
          <p:cNvPr id="8" name="Picture 7" descr="总体架构图@3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959" y="1115568"/>
            <a:ext cx="8781775" cy="5504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启动流程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从固件交接到首个用户进程执行</a:t>
            </a:r>
          </a:p>
        </p:txBody>
      </p:sp>
      <p:pic>
        <p:nvPicPr>
          <p:cNvPr id="9" name="Picture 8" descr="启动流程图@3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9086" y="1115568"/>
            <a:ext cx="2653523" cy="55046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>
                <a:solidFill>
                  <a:srgbClr val="101426"/>
                </a:solidFill>
                <a:latin typeface="Consolas" panose="020B0609020204030204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核心模块设计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VFS · 进程与CoW · 内存管理 · 网络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840480"/>
            <a:ext cx="73152" cy="73152"/>
          </a:xfrm>
          <a:prstGeom prst="ellipse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39696" y="3840480"/>
            <a:ext cx="73152" cy="73152"/>
          </a:xfrm>
          <a:prstGeom prst="ellipse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23744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07791" y="3840480"/>
            <a:ext cx="73152" cy="73152"/>
          </a:xfrm>
          <a:prstGeom prst="ellipse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91840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75887" y="3840480"/>
            <a:ext cx="73152" cy="73152"/>
          </a:xfrm>
          <a:prstGeom prst="ellipse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59935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重点：VFS 从单一 Ext4 到可挂载文件系统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rCore 原生无 VFS — 这是我们核心自主设计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" y="1280160"/>
            <a:ext cx="5486400" cy="1428750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5486400" cy="1428750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5212080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为什么需要 VFS？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73352"/>
            <a:ext cx="5120640" cy="898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rCore 原生文件系统围绕单一 Ext4 实例和字符串路径实现，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无法表达挂载点，也无法支持多个文件系统实例。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我们引入 VFS 子层：用 File trait 统一 I/O 接口，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用 Dentry 缓存加速路径解析，用挂载表实现双盘设计。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4671" y="1280160"/>
            <a:ext cx="548640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8095" y="1234440"/>
            <a:ext cx="548640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5255" y="1234440"/>
            <a:ext cx="5212080" cy="32004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13716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VFS 核心对象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0975" y="1673352"/>
            <a:ext cx="512064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VfsSuperBlock — 已挂载文件系统实例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Dentry — 名字到 inode 的缓存节点，Weak 指向父节点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Mount — 挂载点到新文件系统根的映射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OSInode — 打开文件句柄，可读/可写/偏移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File trait — pipe/socket 均实现此接口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20440"/>
            <a:ext cx="5486400" cy="3063240"/>
          </a:xfrm>
          <a:prstGeom prst="roundRect">
            <a:avLst/>
          </a:prstGeom>
          <a:solidFill>
            <a:srgbClr val="070912"/>
          </a:solidFill>
          <a:ln w="5080">
            <a:solidFill>
              <a:srgbClr val="36F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520440"/>
            <a:ext cx="5212080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41928"/>
            <a:ext cx="51206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pub struct Dentry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pub name: String,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pub path: String,          // VFS 统一路径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pub fs_path: String,       // 底层 ext4 路径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pub inode_num: u32,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pub is_dir: bool,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pub is_link: bool,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pub parent: Option&lt;Arc&lt;Dentry&gt;&gt;,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pub super_block: Arc&lt;VfsSuperBlock&gt;,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pub children: UPSafeCell&lt;Option&lt;Vec&lt;Arc&lt;Dentry&gt;&gt;&gt;&gt;,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// os/src/fs/vfs.rs:575    Dentry 路径缓存节点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8095" y="3520440"/>
            <a:ext cx="5486400" cy="3063240"/>
          </a:xfrm>
          <a:prstGeom prst="roundRect">
            <a:avLst/>
          </a:prstGeom>
          <a:solidFill>
            <a:srgbClr val="070912"/>
          </a:solidFill>
          <a:ln w="5080">
            <a:solidFill>
              <a:srgbClr val="38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85255" y="3520440"/>
            <a:ext cx="5212080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0975" y="3741928"/>
            <a:ext cx="51206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pub fn vfs_lookup(parent: &amp;Arc&lt;Dentry&gt;,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                   name: &amp;str)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                 -&gt; Option&lt;Arc&lt;Dentry&gt;&gt;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    // 1. "." / ".." 特殊处理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    // 2. 查 Dentry children 缓存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    // 3. 缓存未命中, 读 ext4 目录项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    // 4. 检查挂载表, 透明穿越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    // 5. 写回 children 缓存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// os/src/fs/vfs.rs:703   路径解析核心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// 挂载点穿越: lookup_mount(dentry)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文件系统：VFS 与双盘结构</a:t>
            </a:r>
          </a:p>
        </p:txBody>
      </p:sp>
      <p:pic>
        <p:nvPicPr>
          <p:cNvPr id="8" name="Picture 7" descr="VFS 与双盘结构图@3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7838" y="1115568"/>
            <a:ext cx="4796017" cy="55046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文件系统：VFS 挂载点穿越</a:t>
            </a:r>
          </a:p>
        </p:txBody>
      </p:sp>
      <p:pic>
        <p:nvPicPr>
          <p:cNvPr id="8" name="Picture 7" descr="VFS 挂载点穿越图@3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5444" y="1115568"/>
            <a:ext cx="6700806" cy="55046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文件系统：ext4 集成与双盘设计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1371600"/>
            <a:ext cx="539496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39496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5120640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3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lwext4 集成方案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64792"/>
            <a:ext cx="502920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lwext4 — 轻量级嵌入式 ext4 C 库实现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lwext4_rust — bindgen 自动生成 Rust FFI 绑定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BlockDevice trait 适配器 — 对接 VirtIO / RAM Disk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64 条目 LRU 块缓存 — 减少重复磁盘读取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双磁盘：根盘(bus1) + 测试盘(bus0)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1371600"/>
            <a:ext cx="5394960" cy="1823085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325880"/>
            <a:ext cx="5394960" cy="1823085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325880"/>
            <a:ext cx="5120640" cy="32004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6303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ext4 支持的操作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64792"/>
            <a:ext cx="5029200" cy="129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文件 CRUD + 重命名 + lseek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目录 mkdir / rmdir / getdents64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符号链接 / 硬链接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权限与时间戳 (chmod/chown/utimensat)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statx / statfs / fstatfs 元数据查询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mount / umount2 挂载管理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" y="3469004"/>
            <a:ext cx="11247120" cy="1205865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423285"/>
            <a:ext cx="11247120" cy="1205865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423285"/>
            <a:ext cx="10972800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6044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🔗  数据流：read() → VFS 派发 → Dentry 解析 → lwext4 → 块缓存 → BlockDevice → VirtIO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62197"/>
            <a:ext cx="10881360" cy="67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5"/>
              </a:spcAft>
              <a:defRPr sz="11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① read(fd, buf, len) → ecall 陷入内核       ② VFS 派发至 OSInode::read()</a:t>
            </a:r>
          </a:p>
          <a:p>
            <a:pPr>
              <a:spcAft>
                <a:spcPts val="385"/>
              </a:spcAft>
              <a:defRPr sz="11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③ Dentry 解析路径 → ext4 inode 编号          ④ lwext4 通过 LRU 块缓存读取数据</a:t>
            </a:r>
          </a:p>
          <a:p>
            <a:pPr>
              <a:spcAft>
                <a:spcPts val="385"/>
              </a:spcAft>
              <a:defRPr sz="11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⑤ 缓存命中直接返回 / 穿透调用 BlockDevice    ⑥ VirtIO 块设备 → MMIO 硬件命令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14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重点：fork 与写时复制 (CoW)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ScintillaOS 卡壳最久的核心难点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" y="1280160"/>
            <a:ext cx="548640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548640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5212080" cy="32004"/>
          </a:xfrm>
          <a:prstGeom prst="rect">
            <a:avLst/>
          </a:prstGeom>
          <a:solidFill>
            <a:srgbClr val="FF5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⚠️  fork 的正确实现为什么难？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73352"/>
            <a:ext cx="512064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fork 需要复制父进程地址空间，naive 逐页深拷贝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消耗大量内存和时间，而子进程后续往往立即 exec。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我们引入 CoW：父子共享只读物理页，写入时触发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StorePageFault 再真正复制。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核心难点：引用计数必须精确追踪每个物理页的共享数。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4671" y="1280160"/>
            <a:ext cx="548640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8095" y="1234440"/>
            <a:ext cx="548640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5255" y="1234440"/>
            <a:ext cx="5212080" cy="32004"/>
          </a:xfrm>
          <a:prstGeom prst="rect">
            <a:avLst/>
          </a:prstGeom>
          <a:solidFill>
            <a:srgbClr val="FF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13716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CoW 引用计数陷阱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0975" y="1673352"/>
            <a:ext cx="512064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物理页帧维护引用计数：被多少进程共享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fork 时 +1，page fault 分离时原页 -1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进程退出遍历地址空间 -1，归零才释放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最隐蔽 bug：A fork B, B fork C 三层嵌套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  某处计数错 → 回收使用中的页 → 随机数据损坏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20440"/>
            <a:ext cx="5486400" cy="3063240"/>
          </a:xfrm>
          <a:prstGeom prst="roundRect">
            <a:avLst/>
          </a:prstGeom>
          <a:solidFill>
            <a:srgbClr val="070912"/>
          </a:solidFill>
          <a:ln w="5080">
            <a:solidFill>
              <a:srgbClr val="36F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520440"/>
            <a:ext cx="5212080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30168"/>
            <a:ext cx="51206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pub fn from_existed_user(      // fork 时复制地址空间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user_space: &amp;MemorySet) -&gt; Option&lt;MemorySet&gt;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for area in user_space.areas.iter()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for (&amp;vpn, frame) in area.data_frames.iter()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  let new_frame = frame.shared_clone(); // 共享物理页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  if !area.shared &amp;&amp; child_perm.contains(W)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    child_perm.remove(W);  // 去掉父子双方写权限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    user_space.page_table.unmap_page(vpn);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    user_space.page_table.map_page(/* 只读 */);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  memory_set.page_table.map_page(/* 只读映射 */);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} }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// os/src/mm/memory_set.rs:245   CoW 核心逻辑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8095" y="3520440"/>
            <a:ext cx="5486400" cy="3063240"/>
          </a:xfrm>
          <a:prstGeom prst="roundRect">
            <a:avLst/>
          </a:prstGeom>
          <a:solidFill>
            <a:srgbClr val="070912"/>
          </a:solidFill>
          <a:ln w="5080">
            <a:solidFill>
              <a:srgbClr val="38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85255" y="3520440"/>
            <a:ext cx="5212080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0975" y="3630168"/>
            <a:ext cx="51206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impl Drop for FrameTracker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  fn drop(&amp;mut self)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    let mut refs = FRAME_REFS.lock();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    if let Some(count) = refs.get_mut(&amp;key)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      if *count &gt; 2 { *count -= 1; }  // 减引用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      else { refs.remove(&amp;key);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      return;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    frame_dealloc(self.paddr);  // 归还物理页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}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// os/src/mm/frame_allocator.rs:55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// FrameTracker RAII 回收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15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内存管理：fork CoW 机制图</a:t>
            </a:r>
          </a:p>
        </p:txBody>
      </p:sp>
      <p:pic>
        <p:nvPicPr>
          <p:cNvPr id="8" name="Picture 7" descr="fork-COW 机制图@3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367" y="1115568"/>
            <a:ext cx="10742959" cy="55046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16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进程与任务管理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1280160"/>
            <a:ext cx="548640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548640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5212080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任务控制块 TCB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73352"/>
            <a:ext cx="512064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身份信息：uid / euid / gid / egid / umask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文件描述符表 Vec&lt;Arc&lt;dyn File&gt;&gt;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虚拟地址空间 MemorySet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信号掩码、处理函数表、挂起信号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父进程 Weak 引用及子进程列表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4671" y="1280160"/>
            <a:ext cx="548640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8095" y="1234440"/>
            <a:ext cx="548640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5255" y="1234440"/>
            <a:ext cx="5212080" cy="32004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0975" y="13716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调度与生命周期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0975" y="1673352"/>
            <a:ext cx="512064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协作 + 抢占式 Round-Robin 调度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FIFO 就绪队列 + 唤醒优先级队列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定时睡眠 / 条件阻塞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sleep · waitpid · 网络 poll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waitpid 僵尸回收 · 孤儿 init 领养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40"/>
            <a:ext cx="11277295" cy="3063240"/>
          </a:xfrm>
          <a:prstGeom prst="roundRect">
            <a:avLst/>
          </a:prstGeom>
          <a:solidFill>
            <a:srgbClr val="070912"/>
          </a:solidFill>
          <a:ln w="5080">
            <a:solidFill>
              <a:srgbClr val="36F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520440"/>
            <a:ext cx="11002975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30168"/>
            <a:ext cx="10911535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pub struct TaskControlBlock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  pub pid: PidHandle,                       // RAII 管理的 PID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  inner: UPSafeCell&lt;TaskControlBlockInner&gt;,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pub struct TaskControlBlockInner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  pub trap_cx: TrapFrame,                   // 用户态寄存器快照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  pub task_status: TaskStatus,               // Ready/Running/Zombie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  pub memory_set: MemorySet,                 // 虚拟地址空间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  pub parent:  Option&lt;Weak&lt;TaskControlBlock&gt;&gt;,    // 父弱引用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  pub children: Vec&lt;Arc&lt;TaskControlBlock&gt;&gt;,       // 子列表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  pub exit_code: i32,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  pub fd_table: Vec&lt;Option&lt;Arc&lt;dyn File + Send + Sync&gt;&gt;&gt;,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  pub cwd: Arc&lt;Dentry&gt;,      pub root: Arc&lt;Dentry&gt;,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  pub signals: SignalFlags,  pub signal_mask: SignalFlags,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  pub uid: u32, pub euid: u32,  pub gid: u32, pub egid: u32,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// os/src/task/task.rs:20,56    TCB — 进程资源聚合中心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17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进程生命周期与资源语义</a:t>
            </a:r>
          </a:p>
        </p:txBody>
      </p:sp>
      <p:pic>
        <p:nvPicPr>
          <p:cNvPr id="8" name="Picture 7" descr="进程生命周期与资源语义图@3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5914" y="1115568"/>
            <a:ext cx="6899866" cy="55046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内存管理总览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1371600"/>
            <a:ext cx="5394960" cy="1034415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394960" cy="1034415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5120640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3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物理内存管理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64792"/>
            <a:ext cx="5029200" cy="504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Buddy System 伙伴分配器 · 4KB 页框分配与回收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栈式空闲页追踪 · 128MB 内核堆（链表分配器）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1371600"/>
            <a:ext cx="5394960" cy="1231582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325880"/>
            <a:ext cx="5394960" cy="1231582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325880"/>
            <a:ext cx="5120640" cy="32004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6303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虚拟内存管理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64792"/>
            <a:ext cx="5029200" cy="701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MemorySet + MapArea 区域管理  ·  SV39 三级页表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Demand Paging 按需分页  ·  mmap / munmap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栈与堆动态增长 · CoW fork 写时复制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" y="2831782"/>
            <a:ext cx="5394960" cy="1428750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2786062"/>
            <a:ext cx="5394960" cy="1428750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2786062"/>
            <a:ext cx="5120640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2322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高级特性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24974"/>
            <a:ext cx="5029200" cy="898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ELF 加载 + PT_INTERP 动态链接器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#! shebang 脚本解析执行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SysV 共享内存 (shmget/shmat/shmdt)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mprotect — 页面权限控制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45936" y="2831782"/>
            <a:ext cx="5394960" cy="1428750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0" y="2786062"/>
            <a:ext cx="5394960" cy="1428750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2786062"/>
            <a:ext cx="5120640" cy="32004"/>
          </a:xfrm>
          <a:prstGeom prst="rect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92322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地址空间布局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24974"/>
            <a:ext cx="5029200" cy="898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用户区：0x0 — 0x3FFFFFFFFF (SV39)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内核区：0xFFFFFFC080200000+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UserBuffer 安全缓冲区转换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Guard Page 栈溢出保护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19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重点：网络协议栈实现原理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smoltcp 集成与 Socket 层设计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" y="1280160"/>
            <a:ext cx="548640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548640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5212080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🔌  smoltcp 集成架构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73352"/>
            <a:ext cx="512064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smoltcp 是纯 Rust 实现的嵌入式 TCP/IP 协议栈，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无动态分配、无 unsafe，天然适合 no_std 内核。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我们实现 Device trait 对接 VirtIO 网卡，启动时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创建 Interface 实例，通过 poll() 驱动收发。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Socket 层基于 File trait 封装，复用 VFS 分发路径。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4671" y="1280160"/>
            <a:ext cx="548640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8095" y="1234440"/>
            <a:ext cx="548640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5255" y="1234440"/>
            <a:ext cx="5212080" cy="32004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13716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Socket 层设计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0975" y="1673352"/>
            <a:ext cx="512064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SocketFile 结构体 — 持有 smoltcp SocketHandle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实现 File trait — read/write/ppoll 统一接口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阻塞模式：buffer 空/满时 sleep 等待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非阻塞模式：立即返回 EAGAIN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本地 TCP/UDP 回环 — 无网卡环境测试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20440"/>
            <a:ext cx="5486400" cy="3063240"/>
          </a:xfrm>
          <a:prstGeom prst="roundRect">
            <a:avLst/>
          </a:prstGeom>
          <a:solidFill>
            <a:srgbClr val="070912"/>
          </a:solidFill>
          <a:ln w="5080">
            <a:solidFill>
              <a:srgbClr val="36F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520440"/>
            <a:ext cx="5212080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30168"/>
            <a:ext cx="51206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pub fn sys_socket(domain: usize,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type_: usize, _protocol: usize) -&gt; isize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if domain != AF_INET { return -97; }     // IPv4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let st = match type_ &amp; 0x0F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  SOCK_STREAM =&gt; SocketType::Tcp,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  SOCK_DGRAM  =&gt; SocketType::Udp,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  _ =&gt; return -22,                       // EINVAL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let (handle, _) = add_to_socket_set(st)?;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let fd = inner.alloc_fd();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inner.fd_table[fd] = Some(Arc::new(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  SocketFile::new(handle, st, nonblock)));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  fd as isize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36F9A8"/>
                </a:solidFill>
                <a:latin typeface="Consolas" panose="020B0609020204030204"/>
              </a:defRPr>
            </a:pPr>
            <a:r>
              <a:t>// os/src/net/syscall.rs:881   socket 创建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8095" y="3520440"/>
            <a:ext cx="5486400" cy="3063240"/>
          </a:xfrm>
          <a:prstGeom prst="roundRect">
            <a:avLst/>
          </a:prstGeom>
          <a:solidFill>
            <a:srgbClr val="070912"/>
          </a:solidFill>
          <a:ln w="5080">
            <a:solidFill>
              <a:srgbClr val="38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85255" y="3520440"/>
            <a:ext cx="5212080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0975" y="3630168"/>
            <a:ext cx="51206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TCP 数据流 (内核视角):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listen()  -&gt; smoltcp 进入 Listen 状态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accept()  -&gt; poll 收到 SYN, 完成握手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send()    -&gt; 写发送缓冲区, poll 封装 TCP 段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recv()    -&gt; 读接收缓冲区, 空则阻塞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close()   -&gt; FIN -&gt; ACK+FIN -&gt; TIME_WAIT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TCP 状态机由 smoltcp 维护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我们只驱动 poll + buffer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8E4FF"/>
                </a:solidFill>
                <a:latin typeface="Consolas" panose="020B0609020204030204"/>
              </a:defRPr>
            </a:pPr>
            <a:r>
              <a:t>// os/src/net/syscall.rs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网络：数据路径图</a:t>
            </a:r>
          </a:p>
        </p:txBody>
      </p:sp>
      <p:pic>
        <p:nvPicPr>
          <p:cNvPr id="8" name="Picture 7" descr="网络数据路径图@3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708" y="1115568"/>
            <a:ext cx="4266278" cy="55046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21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系统调用接口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约 120 个 syscall · 遵循 RISC-V Linux ABI 编号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1275" y="1537335"/>
            <a:ext cx="3645535" cy="3230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pub fn syscall(syscall_id: usize,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           args: [usize; 6]) -&gt; isize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let ret = match syscall_id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SYSCALL_OPENAT   =&gt; sys_openat(args[0] as isize,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                   args[1] as *const u8, ...),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SYSCALL_CLOSE    =&gt; sys_close(args[0]),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SYSCALL_READ     =&gt; sys_read(args[0],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                   args[1] as *mut u8, args[2]),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SYSCALL_WRITE    =&gt; sys_write(args[0],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                   args[1] as *mut u8, args[2]),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SYSCALL_FORK     =&gt; sys_fork(),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SYSCALL_EXEC     =&gt; sys_exec(args[0] as *const u8,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                   args[1], args[2]),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SYSCALL_WAITPID  =&gt; sys_waitpid(...),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SYSCALL_MMAP     =&gt; sys_mmap(...),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SYSCALL_SOCKET   =&gt; sys_socket(...),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SYSCALL_BIND     =&gt; sys_bind(...),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SYSCALL_MOUNT    =&gt; sys_mount(...),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SYSCALL_KILL     =&gt; sys_kill(...),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  _ =&gt; -38,  // ENOSYS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  ret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>
                <a:solidFill>
                  <a:srgbClr val="36F9A8"/>
                </a:solidFill>
                <a:latin typeface="Consolas" panose="020B0609020204030204"/>
              </a:defRPr>
            </a:pPr>
            <a:r>
              <a:t>// os/src/syscall/mod.rs:160  系统调用分发入口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0246" y="1583055"/>
            <a:ext cx="5486400" cy="2903220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33670" y="1537335"/>
            <a:ext cx="5486400" cy="2903220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70830" y="1537335"/>
            <a:ext cx="5212080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6550" y="167449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🔢  系统调用分类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6550" y="1976247"/>
            <a:ext cx="5120640" cy="229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5"/>
              </a:spcAft>
              <a:defRPr sz="11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900"/>
              <a:t>文件 I/O — openat / read / write / close / lseek / dup / pipe</a:t>
            </a:r>
            <a:endParaRPr sz="900"/>
          </a:p>
          <a:p>
            <a:pPr>
              <a:spcAft>
                <a:spcPts val="385"/>
              </a:spcAft>
              <a:defRPr sz="11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900"/>
              <a:t>路径/目录 — mkdirat / unlinkat / renameat2 / chdir / getcwd</a:t>
            </a:r>
            <a:endParaRPr sz="900"/>
          </a:p>
          <a:p>
            <a:pPr>
              <a:spcAft>
                <a:spcPts val="385"/>
              </a:spcAft>
              <a:defRPr sz="11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900"/>
              <a:t>进程/内存 — fork / clone / exec / waitpid / brk / mmap / munmap</a:t>
            </a:r>
            <a:endParaRPr sz="900"/>
          </a:p>
          <a:p>
            <a:pPr>
              <a:spcAft>
                <a:spcPts val="385"/>
              </a:spcAft>
              <a:defRPr sz="11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900"/>
              <a:t>信号 — kill / sigaction / sigprocmask / sigreturn</a:t>
            </a:r>
            <a:endParaRPr sz="900"/>
          </a:p>
          <a:p>
            <a:pPr>
              <a:spcAft>
                <a:spcPts val="385"/>
              </a:spcAft>
              <a:defRPr sz="11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900"/>
              <a:t>网络 — socket / bind / listen / accept / connect / sendmsg</a:t>
            </a:r>
            <a:endParaRPr sz="900"/>
          </a:p>
          <a:p>
            <a:pPr>
              <a:spcAft>
                <a:spcPts val="385"/>
              </a:spcAft>
              <a:defRPr sz="11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900"/>
              <a:t>文件系统 — mount / umount2 / statx / fchmod / utimensat</a:t>
            </a:r>
            <a:endParaRPr sz="900"/>
          </a:p>
          <a:p>
            <a:pPr>
              <a:spcAft>
                <a:spcPts val="385"/>
              </a:spcAft>
              <a:defRPr sz="11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900"/>
              <a:t>时间 — nanosleep / clock_gettime / gettimeofday</a:t>
            </a:r>
            <a:endParaRPr sz="900"/>
          </a:p>
          <a:p>
            <a:pPr>
              <a:spcAft>
                <a:spcPts val="385"/>
              </a:spcAft>
              <a:defRPr sz="11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900"/>
              <a:t>权限 — getuid / setuid / getgid / setgid</a:t>
            </a:r>
            <a:endParaRPr sz="900"/>
          </a:p>
          <a:p>
            <a:pPr>
              <a:spcAft>
                <a:spcPts val="385"/>
              </a:spcAft>
              <a:defRPr sz="11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900"/>
              <a:t>IPC — shmget / shmat / shmdt / futex</a:t>
            </a:r>
            <a:endParaRPr sz="900"/>
          </a:p>
          <a:p>
            <a:pPr>
              <a:spcAft>
                <a:spcPts val="385"/>
              </a:spcAft>
              <a:defRPr sz="1100">
                <a:solidFill>
                  <a:srgbClr val="9093A8"/>
                </a:solidFill>
                <a:latin typeface="微软雅黑" panose="020B0503020204020204" charset="-122"/>
              </a:defRPr>
            </a:pPr>
            <a:endParaRPr sz="900"/>
          </a:p>
          <a:p>
            <a:pPr>
              <a:spcAft>
                <a:spcPts val="385"/>
              </a:spcAft>
              <a:defRPr sz="11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900"/>
              <a:t>设计原则：系统调用层仅负责 ABI 解码与模块转发，</a:t>
            </a:r>
            <a:endParaRPr sz="900"/>
          </a:p>
          <a:p>
            <a:pPr>
              <a:spcAft>
                <a:spcPts val="385"/>
              </a:spcAft>
              <a:defRPr sz="11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900"/>
              <a:t>不承载具体业务逻辑。未实现接口返回 -ENOSYS。</a:t>
            </a:r>
            <a:endParaRPr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>
                <a:solidFill>
                  <a:srgbClr val="101426"/>
                </a:solidFill>
                <a:latin typeface="Consolas" panose="020B0609020204030204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FF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设计特色与安全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File trait 一切皆文件 + Rust 内存安全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840480"/>
            <a:ext cx="73152" cy="73152"/>
          </a:xfrm>
          <a:prstGeom prst="ellipse">
            <a:avLst/>
          </a:prstGeom>
          <a:solidFill>
            <a:srgbClr val="FF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39696" y="3840480"/>
            <a:ext cx="73152" cy="73152"/>
          </a:xfrm>
          <a:prstGeom prst="ellipse">
            <a:avLst/>
          </a:prstGeom>
          <a:solidFill>
            <a:srgbClr val="FF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23744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07791" y="3840480"/>
            <a:ext cx="73152" cy="73152"/>
          </a:xfrm>
          <a:prstGeom prst="ellipse">
            <a:avLst/>
          </a:prstGeom>
          <a:solidFill>
            <a:srgbClr val="FF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91840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75887" y="3840480"/>
            <a:ext cx="73152" cy="73152"/>
          </a:xfrm>
          <a:prstGeom prst="ellipse">
            <a:avLst/>
          </a:prstGeom>
          <a:solidFill>
            <a:srgbClr val="FF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59935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23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FF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FF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FF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设计特色：File trait + Rust 安全保障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1325880"/>
            <a:ext cx="5486400" cy="2020252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486400" cy="2020252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280160"/>
            <a:ext cx="5212080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1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核心抽象：File trait — 一切皆文件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19072"/>
            <a:ext cx="512064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所有 I/O 资源通过统一 trait 交互：</a:t>
            </a: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  · 文件 (ext4 inode)        · 管道 (pipe)</a:t>
            </a: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  · Socket (TCP/UDP)         · 设备 (/dev/*)</a:t>
            </a: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  · 伪文件系统 (/proc)</a:t>
            </a: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用户程序通过相同 read/write 路径访问所有资源，</a:t>
            </a: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添加新设备类型只需 impl File trait — 开闭原则。</a:t>
            </a:r>
            <a:endParaRPr sz="1000"/>
          </a:p>
        </p:txBody>
      </p:sp>
      <p:sp>
        <p:nvSpPr>
          <p:cNvPr id="13" name="Rounded Rectangle 12"/>
          <p:cNvSpPr/>
          <p:nvPr/>
        </p:nvSpPr>
        <p:spPr>
          <a:xfrm>
            <a:off x="457200" y="3529012"/>
            <a:ext cx="5486400" cy="2560320"/>
          </a:xfrm>
          <a:prstGeom prst="roundRect">
            <a:avLst/>
          </a:prstGeom>
          <a:solidFill>
            <a:srgbClr val="070912"/>
          </a:solidFill>
          <a:ln w="5080">
            <a:solidFill>
              <a:srgbClr val="36F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529012"/>
            <a:ext cx="5212080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38740"/>
            <a:ext cx="512064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pub trait File: Send + Sync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fn readable(&amp;self) -&gt; bool;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fn writable(&amp;self) -&gt; bool;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fn read(&amp;self, buf: &amp;mut [u8]) -&gt; isize;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fn write(&amp;self, buf: &amp;mut [u8]) -&gt; isize;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fn stat(&amp;self) -&gt; Kstat;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fn getdents64(&amp;self, _buf: &amp;mut [u8])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   -&gt; isize { -1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fn seek(&amp;self, _offset: usize) {}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fn poll(&amp;self) -&gt; (bool, bool, bool);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fn dup_ref(&amp;self) {}   // fd 复制钩子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  fn close_ref(&amp;self) {}  // fd 关闭钩子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36F9A8"/>
                </a:solidFill>
                <a:latin typeface="Consolas" panose="020B0609020204030204"/>
              </a:defRPr>
            </a:pPr>
            <a:r>
              <a:t>// os/src/fs/mod.rs:68    File trait 定义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4671" y="1325880"/>
            <a:ext cx="5486400" cy="2217420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8095" y="1280160"/>
            <a:ext cx="5486400" cy="2217420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85255" y="1280160"/>
            <a:ext cx="5212080" cy="32004"/>
          </a:xfrm>
          <a:prstGeom prst="rect">
            <a:avLst/>
          </a:prstGeom>
          <a:solidFill>
            <a:srgbClr val="FF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0975" y="141731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🛡️  Rust 内存安全 — 编译期消除 bug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0975" y="1719072"/>
            <a:ext cx="5120640" cy="168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· 所有权 + 借用 → 无 use-after-free / 野指针</a:t>
            </a: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· 类型安全 → 无缓冲区溢出 / 类型混淆</a:t>
            </a: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· no_std 最小化 unsafe，集中在 FFI 边界</a:t>
            </a: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· UPSafeCell&lt;T&gt; — 单核安全的内部可变性</a:t>
            </a: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· RAII — PID / 页帧 / FD 自动回收</a:t>
            </a: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Linux 70% CVE 为内存安全漏洞</a:t>
            </a: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这些问题在 Rust 编译期即被消除</a:t>
            </a:r>
            <a:endParaRPr sz="1000"/>
          </a:p>
        </p:txBody>
      </p:sp>
      <p:sp>
        <p:nvSpPr>
          <p:cNvPr id="21" name="Rounded Rectangle 20"/>
          <p:cNvSpPr/>
          <p:nvPr/>
        </p:nvSpPr>
        <p:spPr>
          <a:xfrm>
            <a:off x="6284671" y="3771899"/>
            <a:ext cx="5486400" cy="2020252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8095" y="3726179"/>
            <a:ext cx="5486400" cy="2020252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85255" y="3726179"/>
            <a:ext cx="5212080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0975" y="386333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安全设计模式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0975" y="4165091"/>
            <a:ext cx="512064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Arc&lt;dyn File&gt; — 共享 FD 所有权，RAII 自动释放</a:t>
            </a: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UserBuffer — 校验用户态内存访问合法性</a:t>
            </a: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UPSafeCell — borrow/borrow_mut，双重可变借用 panic</a:t>
            </a: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FrameTracker — 物理页帧 RAII，Drop 自动归还</a:t>
            </a: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设计原则：普通内核逻辑用安全 Rust，</a:t>
            </a:r>
            <a:endParaRPr sz="1000"/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rPr sz="1000"/>
              <a:t>unsafe 限制在硬件边界和地址转换处。</a:t>
            </a:r>
            <a:endParaRPr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>
                <a:solidFill>
                  <a:srgbClr val="101426"/>
                </a:solidFill>
                <a:latin typeface="Consolas" panose="020B0609020204030204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测试与验证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测试体系与已有结果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840480"/>
            <a:ext cx="73152" cy="73152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39696" y="3840480"/>
            <a:ext cx="73152" cy="73152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23744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07791" y="3840480"/>
            <a:ext cx="73152" cy="73152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91840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75887" y="3840480"/>
            <a:ext cx="73152" cy="73152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59935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测试体系与已有记录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2030095"/>
            <a:ext cx="11247120" cy="1668780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984375"/>
            <a:ext cx="11247120" cy="1668780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984375"/>
            <a:ext cx="10972800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21534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📊  测试覆盖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287"/>
            <a:ext cx="10881360" cy="1138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2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basic — OS 大赛官方测试用例 (32/32 全部通过)，覆盖 brk/chdir/clone/dup/exec/exit/fstat/getpid/mkdir/mmap/mount/pipe 等</a:t>
            </a:r>
          </a:p>
          <a:p>
            <a:pPr>
              <a:spcAft>
                <a:spcPts val="420"/>
              </a:spcAft>
              <a:defRPr sz="12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BusyBox — 完整 Shell 环境，四种模式均可运行 · lmbench — 进程与内存微基准测试</a:t>
            </a:r>
          </a:p>
          <a:p>
            <a:pPr>
              <a:spcAft>
                <a:spcPts val="420"/>
              </a:spcAft>
              <a:defRPr sz="12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iperf3 — 网络带宽吞吐测试 · netperf — TCP/UDP 性能基准 · IOzone — 文件系统读写基准</a:t>
            </a:r>
          </a:p>
          <a:p>
            <a:pPr>
              <a:spcAft>
                <a:spcPts val="420"/>
              </a:spcAft>
              <a:defRPr sz="12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LTP — Linux 测试项目子集 · Lua — 端到端功能测试脚本 · 系统自带 50+ 单元测试程序</a:t>
            </a:r>
          </a:p>
          <a:p>
            <a:pPr>
              <a:spcAft>
                <a:spcPts val="420"/>
              </a:spcAft>
              <a:defRPr sz="12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contest_runner — 自动化测试执行与评分 · 双磁盘竞赛模式 · shutdown 系统调用干净退出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" y="3927475"/>
            <a:ext cx="11247120" cy="1257300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881755"/>
            <a:ext cx="11247120" cy="1257300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881755"/>
            <a:ext cx="10972800" cy="3200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18915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🔧  构建与运行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20667"/>
            <a:ext cx="10881360" cy="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2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make all                  → 完整构建 (内核+磁盘镜像)     make run ARCH=riscv64    → QEMU 单磁盘启动</a:t>
            </a:r>
          </a:p>
          <a:p>
            <a:pPr>
              <a:spcAft>
                <a:spcPts val="420"/>
              </a:spcAft>
              <a:defRPr sz="12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make run-dual ARCH=riscv64 → QEMU 双磁盘竞赛模式          make gdbserver/gdbclient → GDB 远程调试</a:t>
            </a:r>
          </a:p>
          <a:p>
            <a:pPr>
              <a:spcAft>
                <a:spcPts val="420"/>
              </a:spcAft>
              <a:defRPr sz="12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make fs-img                → 制作 ext4 磁盘镜像 (含用户程序)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548640" y="9144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>
                <a:solidFill>
                  <a:srgbClr val="101426"/>
                </a:solidFill>
                <a:latin typeface="Consolas" panose="020B0609020204030204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" y="6803136"/>
            <a:ext cx="12100255" cy="54864"/>
          </a:xfrm>
          <a:prstGeom prst="rect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开发过程 · 心得 · 后续计划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840480"/>
            <a:ext cx="73152" cy="73152"/>
          </a:xfrm>
          <a:prstGeom prst="ellipse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39696" y="3840480"/>
            <a:ext cx="73152" cy="73152"/>
          </a:xfrm>
          <a:prstGeom prst="ellipse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23744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07791" y="3840480"/>
            <a:ext cx="73152" cy="73152"/>
          </a:xfrm>
          <a:prstGeom prst="ellipse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91840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75887" y="3840480"/>
            <a:ext cx="73152" cy="73152"/>
          </a:xfrm>
          <a:prstGeom prst="ellipse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59935" y="3840480"/>
            <a:ext cx="73152" cy="73152"/>
          </a:xfrm>
          <a:prstGeom prst="ellipse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功能特性总览</a:t>
            </a: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457200" y="2002790"/>
            <a:ext cx="2103120" cy="457200"/>
          </a:xfrm>
          <a:prstGeom prst="roundRect">
            <a:avLst/>
          </a:prstGeom>
          <a:solidFill>
            <a:srgbClr val="0E1222"/>
          </a:solidFill>
          <a:ln w="5080">
            <a:solidFill>
              <a:srgbClr val="FFD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457200" y="205765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FFD63D"/>
                </a:solidFill>
                <a:latin typeface="微软雅黑" panose="020B0503020204020204" charset="-122"/>
              </a:defRPr>
            </a:pPr>
            <a:r>
              <a:t>进程管理</a:t>
            </a: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2743200" y="2057654"/>
            <a:ext cx="9174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fork/clone/exec · FIFO轮转调度 · 信号机制 · waitpid · 孤儿领养</a:t>
            </a:r>
          </a:p>
        </p:txBody>
      </p:sp>
      <p:sp>
        <p:nvSpPr>
          <p:cNvPr id="11" name="Rectangle 10"/>
          <p:cNvSpPr/>
          <p:nvPr>
            <p:custDataLst>
              <p:tags r:id="rId4"/>
            </p:custDataLst>
          </p:nvPr>
        </p:nvSpPr>
        <p:spPr>
          <a:xfrm>
            <a:off x="2743200" y="2459990"/>
            <a:ext cx="9174175" cy="4572"/>
          </a:xfrm>
          <a:prstGeom prst="rect">
            <a:avLst/>
          </a:prstGeom>
          <a:solidFill>
            <a:srgbClr val="1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457200" y="2569717"/>
            <a:ext cx="2103120" cy="457200"/>
          </a:xfrm>
          <a:prstGeom prst="roundRect">
            <a:avLst/>
          </a:prstGeom>
          <a:solidFill>
            <a:srgbClr val="0E1222"/>
          </a:solidFill>
          <a:ln w="5080">
            <a:solidFill>
              <a:srgbClr val="FFD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457200" y="262458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FFD63D"/>
                </a:solidFill>
                <a:latin typeface="微软雅黑" panose="020B0503020204020204" charset="-122"/>
              </a:defRPr>
            </a:pPr>
            <a:r>
              <a:t>内存管理</a:t>
            </a: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2743200" y="2624582"/>
            <a:ext cx="9174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Buddy 分配器 · SV39 分页 · 按需分页 · mmap/munmap · CoW · 共享内存</a:t>
            </a:r>
          </a:p>
        </p:txBody>
      </p:sp>
      <p:sp>
        <p:nvSpPr>
          <p:cNvPr id="15" name="Rectangle 14"/>
          <p:cNvSpPr/>
          <p:nvPr>
            <p:custDataLst>
              <p:tags r:id="rId8"/>
            </p:custDataLst>
          </p:nvPr>
        </p:nvSpPr>
        <p:spPr>
          <a:xfrm>
            <a:off x="2743200" y="3026918"/>
            <a:ext cx="9174175" cy="4572"/>
          </a:xfrm>
          <a:prstGeom prst="rect">
            <a:avLst/>
          </a:prstGeom>
          <a:solidFill>
            <a:srgbClr val="1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457200" y="3136646"/>
            <a:ext cx="2103120" cy="457200"/>
          </a:xfrm>
          <a:prstGeom prst="roundRect">
            <a:avLst/>
          </a:prstGeom>
          <a:solidFill>
            <a:srgbClr val="0E1222"/>
          </a:solidFill>
          <a:ln w="5080">
            <a:solidFill>
              <a:srgbClr val="FFD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457200" y="319151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FFD63D"/>
                </a:solidFill>
                <a:latin typeface="微软雅黑" panose="020B0503020204020204" charset="-122"/>
              </a:defRPr>
            </a:pPr>
            <a:r>
              <a:t>文件系统</a:t>
            </a: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2743200" y="3191510"/>
            <a:ext cx="9174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VFS + ext4(lwext4) · Dentry 缓存 · LRU 块缓存 · 管道 · /proc · /dev</a:t>
            </a:r>
          </a:p>
        </p:txBody>
      </p:sp>
      <p:sp>
        <p:nvSpPr>
          <p:cNvPr id="19" name="Rectangle 18"/>
          <p:cNvSpPr/>
          <p:nvPr>
            <p:custDataLst>
              <p:tags r:id="rId12"/>
            </p:custDataLst>
          </p:nvPr>
        </p:nvSpPr>
        <p:spPr>
          <a:xfrm>
            <a:off x="2743200" y="3593846"/>
            <a:ext cx="9174175" cy="4572"/>
          </a:xfrm>
          <a:prstGeom prst="rect">
            <a:avLst/>
          </a:prstGeom>
          <a:solidFill>
            <a:srgbClr val="1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457200" y="3703574"/>
            <a:ext cx="2103120" cy="457200"/>
          </a:xfrm>
          <a:prstGeom prst="roundRect">
            <a:avLst/>
          </a:prstGeom>
          <a:solidFill>
            <a:srgbClr val="0E1222"/>
          </a:solidFill>
          <a:ln w="5080">
            <a:solidFill>
              <a:srgbClr val="FFD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4"/>
            </p:custDataLst>
          </p:nvPr>
        </p:nvSpPr>
        <p:spPr>
          <a:xfrm>
            <a:off x="457200" y="375843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FFD63D"/>
                </a:solidFill>
                <a:latin typeface="微软雅黑" panose="020B0503020204020204" charset="-122"/>
              </a:defRPr>
            </a:pPr>
            <a:r>
              <a:t>网络协议栈</a:t>
            </a:r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2743200" y="3758438"/>
            <a:ext cx="9174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smoltcp TCP/IP · DHCP · UDP/TCP Socket · poll · iperf3</a:t>
            </a:r>
          </a:p>
        </p:txBody>
      </p:sp>
      <p:sp>
        <p:nvSpPr>
          <p:cNvPr id="23" name="Rectangle 22"/>
          <p:cNvSpPr/>
          <p:nvPr>
            <p:custDataLst>
              <p:tags r:id="rId16"/>
            </p:custDataLst>
          </p:nvPr>
        </p:nvSpPr>
        <p:spPr>
          <a:xfrm>
            <a:off x="2743200" y="4160774"/>
            <a:ext cx="9174175" cy="4572"/>
          </a:xfrm>
          <a:prstGeom prst="rect">
            <a:avLst/>
          </a:prstGeom>
          <a:solidFill>
            <a:srgbClr val="1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>
            <p:custDataLst>
              <p:tags r:id="rId17"/>
            </p:custDataLst>
          </p:nvPr>
        </p:nvSpPr>
        <p:spPr>
          <a:xfrm>
            <a:off x="457200" y="4270502"/>
            <a:ext cx="2103120" cy="457200"/>
          </a:xfrm>
          <a:prstGeom prst="roundRect">
            <a:avLst/>
          </a:prstGeom>
          <a:solidFill>
            <a:srgbClr val="0E1222"/>
          </a:solidFill>
          <a:ln w="5080">
            <a:solidFill>
              <a:srgbClr val="FFD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8"/>
            </p:custDataLst>
          </p:nvPr>
        </p:nvSpPr>
        <p:spPr>
          <a:xfrm>
            <a:off x="457200" y="432536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FFD63D"/>
                </a:solidFill>
                <a:latin typeface="微软雅黑" panose="020B0503020204020204" charset="-122"/>
              </a:defRPr>
            </a:pPr>
            <a:r>
              <a:t>系统调用</a:t>
            </a:r>
          </a:p>
        </p:txBody>
      </p:sp>
      <p:sp>
        <p:nvSpPr>
          <p:cNvPr id="26" name="TextBox 25"/>
          <p:cNvSpPr txBox="1"/>
          <p:nvPr>
            <p:custDataLst>
              <p:tags r:id="rId19"/>
            </p:custDataLst>
          </p:nvPr>
        </p:nvSpPr>
        <p:spPr>
          <a:xfrm>
            <a:off x="2743200" y="4325366"/>
            <a:ext cx="9174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约 120 个 Linux 兼容 syscall · RISC-V ABI 编号</a:t>
            </a:r>
          </a:p>
        </p:txBody>
      </p:sp>
      <p:sp>
        <p:nvSpPr>
          <p:cNvPr id="27" name="Rectangle 26"/>
          <p:cNvSpPr/>
          <p:nvPr>
            <p:custDataLst>
              <p:tags r:id="rId20"/>
            </p:custDataLst>
          </p:nvPr>
        </p:nvSpPr>
        <p:spPr>
          <a:xfrm>
            <a:off x="2743200" y="4727701"/>
            <a:ext cx="9174175" cy="4572"/>
          </a:xfrm>
          <a:prstGeom prst="rect">
            <a:avLst/>
          </a:prstGeom>
          <a:solidFill>
            <a:srgbClr val="1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>
            <p:custDataLst>
              <p:tags r:id="rId21"/>
            </p:custDataLst>
          </p:nvPr>
        </p:nvSpPr>
        <p:spPr>
          <a:xfrm>
            <a:off x="457200" y="4837430"/>
            <a:ext cx="2103120" cy="457200"/>
          </a:xfrm>
          <a:prstGeom prst="roundRect">
            <a:avLst/>
          </a:prstGeom>
          <a:solidFill>
            <a:srgbClr val="0E1222"/>
          </a:solidFill>
          <a:ln w="5080">
            <a:solidFill>
              <a:srgbClr val="FFD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>
            <p:custDataLst>
              <p:tags r:id="rId22"/>
            </p:custDataLst>
          </p:nvPr>
        </p:nvSpPr>
        <p:spPr>
          <a:xfrm>
            <a:off x="457200" y="489229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FFD63D"/>
                </a:solidFill>
                <a:latin typeface="微软雅黑" panose="020B0503020204020204" charset="-122"/>
              </a:defRPr>
            </a:pPr>
            <a:r>
              <a:t>Rust 安全</a:t>
            </a:r>
          </a:p>
        </p:txBody>
      </p:sp>
      <p:sp>
        <p:nvSpPr>
          <p:cNvPr id="30" name="TextBox 29"/>
          <p:cNvSpPr txBox="1"/>
          <p:nvPr>
            <p:custDataLst>
              <p:tags r:id="rId23"/>
            </p:custDataLst>
          </p:nvPr>
        </p:nvSpPr>
        <p:spPr>
          <a:xfrm>
            <a:off x="2743200" y="4892293"/>
            <a:ext cx="9174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编译期内存安全 · UPSafeCell 并发 · RAII 资源管理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5294630"/>
            <a:ext cx="9174175" cy="4572"/>
          </a:xfrm>
          <a:prstGeom prst="rect">
            <a:avLst/>
          </a:prstGeom>
          <a:solidFill>
            <a:srgbClr val="1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28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当前不足与已知风险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" y="2143760"/>
            <a:ext cx="539496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098040"/>
            <a:ext cx="539496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098040"/>
            <a:ext cx="5120640" cy="32004"/>
          </a:xfrm>
          <a:prstGeom prst="rect">
            <a:avLst/>
          </a:prstGeom>
          <a:solidFill>
            <a:srgbClr val="FF5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3519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⚠️  功能性不足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36952"/>
            <a:ext cx="502920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单核 / 无 SMP 多核支持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无真正 idle 进程，可能忙等浪费 CPU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UPSafeCell 依赖关中断，不够健壮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缺少用户态中断处理机制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缺少 USB / GPU / 声卡等外设驱动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2143760"/>
            <a:ext cx="539496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2098040"/>
            <a:ext cx="539496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2098040"/>
            <a:ext cx="5120640" cy="32004"/>
          </a:xfrm>
          <a:prstGeom prst="rect">
            <a:avLst/>
          </a:prstGeom>
          <a:solidFill>
            <a:srgbClr val="FF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3519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⚠️  稳定性不足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36952"/>
            <a:ext cx="502920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CoW 引用计数极端 fork 场景仍需验证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网络长连接、高并发下偶尔死锁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ext4 FFI 内存布局对齐存在未覆盖边界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部分系统调用仅有桩实现 (stub)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LoongArch 网络仅回环，VirtIO 网卡未适配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" y="3998277"/>
            <a:ext cx="11247120" cy="1257300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952557"/>
            <a:ext cx="11247120" cy="1257300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952557"/>
            <a:ext cx="10972800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89717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🚀  后续计划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91469"/>
            <a:ext cx="10881360" cy="72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2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短期（赛前）：修复已知 syscall stub · 完善错误处理 · 通过更多 LTP 用例 · 修复 LoongArch 网络</a:t>
            </a:r>
          </a:p>
          <a:p>
            <a:pPr>
              <a:spcAft>
                <a:spcPts val="420"/>
              </a:spcAft>
              <a:defRPr sz="12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中期（赛程）：优化 VFS 块缓存策略 · 完善 CoW 引用计数自动化测试 · 提升网络并发稳定性</a:t>
            </a:r>
          </a:p>
          <a:p>
            <a:pPr>
              <a:spcAft>
                <a:spcPts val="420"/>
              </a:spcAft>
              <a:defRPr sz="120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长期（赛后）：引入 SMP 多核 · 重构调度器为 CFS · 探索用户态 Rust 程序生态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29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开发过程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从 rCore 骨架到竞赛内核的三阶段路线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" y="1973580"/>
            <a:ext cx="352044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927860"/>
            <a:ext cx="352044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927860"/>
            <a:ext cx="3246120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65019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阶段一：基础运行环境 (2周)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66772"/>
            <a:ext cx="315468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Rust no_std 交叉编译环境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启动、陷阱、进程切换、基础 syscall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页表管理 · 物理页帧分配器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以 basic 测试为目标，丰富系统调用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首个用户程序 hello_world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973580"/>
            <a:ext cx="352044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1927860"/>
            <a:ext cx="352044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27860"/>
            <a:ext cx="3246120" cy="32004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065019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阶段二：核心子系统 (6周)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366772"/>
            <a:ext cx="315468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进程：TCB / fork-exec-wait / 调度器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VFS：从 String 路径迁移到 Dentry+挂载表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内存：mmap/munmap · 按需分页 · CoW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系统调用：逐步实现 Linux ABI 兼容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信号：sigaction · 信号帧 · sigreturn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4736" y="1973580"/>
            <a:ext cx="352044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1927860"/>
            <a:ext cx="352044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1927860"/>
            <a:ext cx="3246120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065019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阶段三：网络与稳定化 (4周)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366772"/>
            <a:ext cx="315468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集成 smoltcp + VirtIO 网卡驱动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TCP/UDP Socket API 全套实现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iperf3 · LTP · IOzone 等真实应用测试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双磁盘竞赛模式 · contest_runner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架构适配：LoongArch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" y="3828097"/>
            <a:ext cx="539496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3782377"/>
            <a:ext cx="539496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3782377"/>
            <a:ext cx="5120640" cy="32004"/>
          </a:xfrm>
          <a:prstGeom prst="rect">
            <a:avLst/>
          </a:prstGeom>
          <a:solidFill>
            <a:srgbClr val="FF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91953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🛠️  开发工具链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221289"/>
            <a:ext cx="502920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VS Code + rust-analyzer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Git + GitHub 版本控制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GNU Make + Cargo 构建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GDB + QEMU gdbserver 调试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Python + Lua 自动化测试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45936" y="3828097"/>
            <a:ext cx="539496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3782377"/>
            <a:ext cx="539496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3782377"/>
            <a:ext cx="5120640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91953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📋  开发方法论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221289"/>
            <a:ext cx="502920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增量开发：跑通 → 完善 → 优化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每个 syscall 配测试用例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worklog 文档记录决策与变更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File trait 多态最大化代码复用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定期用官方 basic/ 验证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30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2004"/>
          </a:xfrm>
          <a:prstGeom prst="rect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914400"/>
          </a:xfrm>
          <a:prstGeom prst="rect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" y="201168"/>
            <a:ext cx="164592" cy="164592"/>
          </a:xfrm>
          <a:prstGeom prst="ellipse">
            <a:avLst/>
          </a:prstGeom>
          <a:solidFill>
            <a:srgbClr val="FFD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开发心得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一个 OS 内核开发者的真实感悟</a:t>
            </a: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493776" y="1813560"/>
            <a:ext cx="5394960" cy="1428750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>
            <p:custDataLst>
              <p:tags r:id="rId2"/>
            </p:custDataLst>
          </p:nvPr>
        </p:nvSpPr>
        <p:spPr>
          <a:xfrm>
            <a:off x="457200" y="1767840"/>
            <a:ext cx="5394960" cy="1428750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3"/>
            </p:custDataLst>
          </p:nvPr>
        </p:nvSpPr>
        <p:spPr>
          <a:xfrm>
            <a:off x="594360" y="1767840"/>
            <a:ext cx="5120640" cy="32004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640080" y="190499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技术收获</a:t>
            </a:r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640080" y="2206752"/>
            <a:ext cx="5029200" cy="898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深刻理解 OS 四大模块联动 — 调度影响内存，VFS 依赖缓存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掌握 Rust 裸机编程范式 — 所有权模型天然适合内核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理解 FFI 威力与风险 — ext4 复用 C 库，unsafe 边界需审计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从零构建 VFS — File trait 是系统可扩展性的基石</a:t>
            </a:r>
          </a:p>
        </p:txBody>
      </p:sp>
      <p:sp>
        <p:nvSpPr>
          <p:cNvPr id="14" name="Rounded Rectangle 13"/>
          <p:cNvSpPr/>
          <p:nvPr>
            <p:custDataLst>
              <p:tags r:id="rId6"/>
            </p:custDataLst>
          </p:nvPr>
        </p:nvSpPr>
        <p:spPr>
          <a:xfrm>
            <a:off x="6345936" y="1813560"/>
            <a:ext cx="5394960" cy="1625917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>
            <p:custDataLst>
              <p:tags r:id="rId7"/>
            </p:custDataLst>
          </p:nvPr>
        </p:nvSpPr>
        <p:spPr>
          <a:xfrm>
            <a:off x="6309360" y="1767840"/>
            <a:ext cx="5394960" cy="1625917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8"/>
            </p:custDataLst>
          </p:nvPr>
        </p:nvSpPr>
        <p:spPr>
          <a:xfrm>
            <a:off x="6446520" y="1767840"/>
            <a:ext cx="5120640" cy="32004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6492240" y="190499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工程能力提升</a:t>
            </a:r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6492240" y="2206752"/>
            <a:ext cx="5029200" cy="1095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Workspace + Makefile 组织大型项目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GDB 远程 + 日志缓冲 + backtrace 调试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块缓存命中率 / 调度延迟 / CoW 开销分析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worklog 记录每个决策的根本原因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从「能跑」到「稳定通过全量测试」的工程化跨越</a:t>
            </a:r>
          </a:p>
        </p:txBody>
      </p:sp>
      <p:sp>
        <p:nvSpPr>
          <p:cNvPr id="19" name="Rounded Rectangle 18"/>
          <p:cNvSpPr/>
          <p:nvPr>
            <p:custDataLst>
              <p:tags r:id="rId11"/>
            </p:custDataLst>
          </p:nvPr>
        </p:nvSpPr>
        <p:spPr>
          <a:xfrm>
            <a:off x="493776" y="3668077"/>
            <a:ext cx="5394960" cy="1823085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>
            <p:custDataLst>
              <p:tags r:id="rId12"/>
            </p:custDataLst>
          </p:nvPr>
        </p:nvSpPr>
        <p:spPr>
          <a:xfrm>
            <a:off x="457200" y="3622357"/>
            <a:ext cx="5394960" cy="1823085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3"/>
            </p:custDataLst>
          </p:nvPr>
        </p:nvSpPr>
        <p:spPr>
          <a:xfrm>
            <a:off x="594360" y="3622357"/>
            <a:ext cx="5120640" cy="32004"/>
          </a:xfrm>
          <a:prstGeom prst="rect">
            <a:avLst/>
          </a:prstGeom>
          <a:solidFill>
            <a:srgbClr val="FF5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5951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🐛  踩过的坑</a:t>
            </a:r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640080" y="4061269"/>
            <a:ext cx="5029200" cy="129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CoW 引用计数错误 → 随机数据损坏（一周才定位）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ext4 FFI 内存布局不匹配 → 随机 panic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网络栈死锁 → poll 与 sleep 优先级反转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信号返回时寄存器破坏 → 段错误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字节序差异 → LoongArch 启动即崩溃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页表映射错位 → 神秘宕机</a:t>
            </a:r>
          </a:p>
        </p:txBody>
      </p:sp>
      <p:sp>
        <p:nvSpPr>
          <p:cNvPr id="24" name="Rounded Rectangle 23"/>
          <p:cNvSpPr/>
          <p:nvPr>
            <p:custDataLst>
              <p:tags r:id="rId15"/>
            </p:custDataLst>
          </p:nvPr>
        </p:nvSpPr>
        <p:spPr>
          <a:xfrm>
            <a:off x="6345936" y="3668077"/>
            <a:ext cx="5394960" cy="1823085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>
            <p:custDataLst>
              <p:tags r:id="rId16"/>
            </p:custDataLst>
          </p:nvPr>
        </p:nvSpPr>
        <p:spPr>
          <a:xfrm>
            <a:off x="6309360" y="3622357"/>
            <a:ext cx="5394960" cy="1823085"/>
          </a:xfrm>
          <a:prstGeom prst="roundRect">
            <a:avLst/>
          </a:prstGeom>
          <a:solidFill>
            <a:srgbClr val="14182A"/>
          </a:solidFill>
          <a:ln w="6350">
            <a:solidFill>
              <a:srgbClr val="1E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>
            <p:custDataLst>
              <p:tags r:id="rId17"/>
            </p:custDataLst>
          </p:nvPr>
        </p:nvSpPr>
        <p:spPr>
          <a:xfrm>
            <a:off x="6446520" y="3622357"/>
            <a:ext cx="5120640" cy="32004"/>
          </a:xfrm>
          <a:prstGeom prst="rect">
            <a:avLst/>
          </a:prstGeom>
          <a:solidFill>
            <a:srgbClr val="36F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75951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💎  关键心得</a:t>
            </a:r>
          </a:p>
        </p:txBody>
      </p:sp>
      <p:sp>
        <p:nvSpPr>
          <p:cNvPr id="28" name="TextBox 27"/>
          <p:cNvSpPr txBox="1"/>
          <p:nvPr>
            <p:custDataLst>
              <p:tags r:id="rId18"/>
            </p:custDataLst>
          </p:nvPr>
        </p:nvSpPr>
        <p:spPr>
          <a:xfrm>
            <a:off x="6492240" y="4061269"/>
            <a:ext cx="5029200" cy="129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「先跑通再优化」— 不过早追求完美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「每个 syscall 都要有测试」— 回归是最大敌人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「unsafe 注释 Why, not What」— 未来你会感谢自己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「善用现有轮子」— lwext4/smoltcp 避免重造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「日志是 ROI 最高的投入」— 内核 bug 无处打印</a:t>
            </a:r>
          </a:p>
          <a:p>
            <a:pPr>
              <a:spcAft>
                <a:spcPts val="400"/>
              </a:spcAft>
              <a:defRPr sz="115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「时间主要花在调试，不是写代码」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5855" y="651052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5364"/>
                </a:solidFill>
                <a:latin typeface="微软雅黑" panose="020B0503020204020204" charset="-122"/>
              </a:defRPr>
            </a:pPr>
            <a: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09847" y="1097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101426"/>
                </a:solidFill>
                <a:latin typeface="Consolas" panose="020B0609020204030204"/>
              </a:defRPr>
            </a:pPr>
            <a:r>
              <a:t>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08176" y="2148839"/>
            <a:ext cx="9448495" cy="3291840"/>
          </a:xfrm>
          <a:prstGeom prst="roundRect">
            <a:avLst/>
          </a:prstGeom>
          <a:solidFill>
            <a:srgbClr val="05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9448495" cy="3291840"/>
          </a:xfrm>
          <a:prstGeom prst="roundRect">
            <a:avLst/>
          </a:prstGeom>
          <a:solidFill>
            <a:srgbClr val="060812"/>
          </a:solidFill>
          <a:ln w="6350">
            <a:solidFill>
              <a:srgbClr val="38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37360" y="2103120"/>
            <a:ext cx="2743200" cy="36576"/>
          </a:xfrm>
          <a:prstGeom prst="rect">
            <a:avLst/>
          </a:prstGeom>
          <a:solidFill>
            <a:srgbClr val="38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37744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谢谢大家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247" y="3200400"/>
            <a:ext cx="2743200" cy="27432"/>
          </a:xfrm>
          <a:prstGeom prst="rect">
            <a:avLst/>
          </a:prstGeom>
          <a:solidFill>
            <a:srgbClr val="B0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38328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8E4FF"/>
                </a:solidFill>
                <a:latin typeface="微软雅黑" panose="020B0503020204020204" charset="-122"/>
              </a:defRPr>
            </a:pPr>
            <a:r>
              <a:t>Q &amp;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114800"/>
            <a:ext cx="8534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93A8"/>
                </a:solidFill>
                <a:latin typeface="微软雅黑" panose="020B0503020204020204" charset="-122"/>
              </a:defRPr>
            </a:pPr>
            <a:r>
              <a:t>ScintillaOS · 基于 Rust 构建 · rCore-Tutorial · 2026 OS 大赛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572000"/>
            <a:ext cx="8534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2F2FA"/>
                </a:solidFill>
                <a:latin typeface="微软雅黑" panose="020B0503020204020204" charset="-122"/>
              </a:defRPr>
            </a:pPr>
            <a:r>
              <a:t>我依旧是世一队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2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3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4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5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6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7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8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9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10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11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12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13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14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15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16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17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18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19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20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21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22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23.xml><?xml version="1.0" encoding="utf-8"?>
<p:tagLst xmlns:p="http://schemas.openxmlformats.org/presentationml/2006/main">
  <p:tag name="KSO_WM_DIAGRAM_VIRTUALLY_FRAME" val="{&quot;height&quot;:312.5,&quot;left&quot;:21.6,&quot;top&quot;:104.4,&quot;width&quot;:916.7759842519685}"/>
</p:tagLst>
</file>

<file path=ppt/tags/tag24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ags/tag25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ags/tag26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ags/tag27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ags/tag28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ags/tag29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ags/tag30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ags/tag31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ags/tag32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ags/tag33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ags/tag34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ags/tag35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ags/tag36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ags/tag37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ags/tag38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ags/tag39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ags/tag40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ags/tag41.xml><?xml version="1.0" encoding="utf-8"?>
<p:tagLst xmlns:p="http://schemas.openxmlformats.org/presentationml/2006/main">
  <p:tag name="KSO_WM_DIAGRAM_VIRTUALLY_FRAME" val="{&quot;height&quot;:331.57496062992124,&quot;left&quot;:36,&quot;top&quot;:100.8,&quot;width&quot;:888.47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11664</Words>
  <Application>WPS 演示</Application>
  <PresentationFormat>On-screen Show (4:3)</PresentationFormat>
  <Paragraphs>699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杜宇恒</cp:lastModifiedBy>
  <cp:revision>4</cp:revision>
  <dcterms:created xsi:type="dcterms:W3CDTF">2013-01-27T09:14:00Z</dcterms:created>
  <dcterms:modified xsi:type="dcterms:W3CDTF">2026-06-30T00:52:26Z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7CD13DDADBE448BA8294BE7F4B688B7E_13</vt:lpwstr>
  </property>
</Properties>
</file>