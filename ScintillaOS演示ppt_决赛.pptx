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932920" y="6601968"/>
            <a:ext cx="256032" cy="256032"/>
          </a:xfrm>
          <a:prstGeom prst="rect">
            <a:avLst/>
          </a:prstGeom>
          <a:solidFill>
            <a:srgbClr val="36F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08176" y="1371600"/>
            <a:ext cx="9445752" cy="4343400"/>
          </a:xfrm>
          <a:prstGeom prst="rect">
            <a:avLst/>
          </a:prstGeom>
          <a:solidFill>
            <a:srgbClr val="060812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17904" y="1481328"/>
            <a:ext cx="9226296" cy="4123944"/>
          </a:xfrm>
          <a:prstGeom prst="rect">
            <a:avLst/>
          </a:prstGeom>
          <a:solidFill>
            <a:srgbClr val="080A1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1920240"/>
            <a:ext cx="4114800" cy="6400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7772400" cy="100584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5000" b="1" lang="zh-CN">
                <a:solidFill>
                  <a:srgbClr val="F2F2FA"/>
                </a:solidFill>
                <a:latin typeface="微软雅黑"/>
                <a:ea typeface="微软雅黑"/>
              </a:rPr>
              <a:t>ScintillaOS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246120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2100" b="0" lang="zh-CN">
                <a:solidFill>
                  <a:srgbClr val="38E4FF"/>
                </a:solidFill>
                <a:latin typeface="微软雅黑"/>
                <a:ea typeface="微软雅黑"/>
              </a:rPr>
              <a:t>基于 Rust 的操作系统内核设计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84048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00" b="0" lang="zh-CN">
                <a:solidFill>
                  <a:srgbClr val="9093A8"/>
                </a:solidFill>
                <a:latin typeface="微软雅黑"/>
                <a:ea typeface="微软雅黑"/>
              </a:rPr>
              <a:t>RISC-V 64  ·  LoongArch 64  ·  QEMU virt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4434840"/>
            <a:ext cx="457200" cy="82296"/>
          </a:xfrm>
          <a:prstGeom prst="rect">
            <a:avLst/>
          </a:prstGeom>
          <a:solidFill>
            <a:srgbClr val="B0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43708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700" b="0" lang="zh-CN">
                <a:solidFill>
                  <a:srgbClr val="FF9E4F"/>
                </a:solidFill>
                <a:latin typeface="微软雅黑"/>
                <a:ea typeface="微软雅黑"/>
              </a:rPr>
              <a:t>2026 全国大学生操作系统设计大赛 · 决赛答辩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84632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00" b="0" lang="zh-CN">
                <a:solidFill>
                  <a:srgbClr val="9093A8"/>
                </a:solidFill>
                <a:latin typeface="微软雅黑"/>
                <a:ea typeface="微软雅黑"/>
              </a:rPr>
              <a:t>武汉大学  ·  雷雨泽  杜宇恒  宋天琦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30352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300" b="0" lang="zh-CN">
                <a:solidFill>
                  <a:srgbClr val="505364"/>
                </a:solidFill>
                <a:latin typeface="微软雅黑"/>
                <a:ea typeface="微软雅黑"/>
              </a:rPr>
              <a:t>2026 年 8 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2600" b="1" lang="zh-CN">
                <a:solidFill>
                  <a:srgbClr val="F2F2FA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58368" cy="457200"/>
          </a:xfrm>
          <a:prstGeom prst="roundRect">
            <a:avLst>
              <a:gd name="adj" fmla="val 25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kinsoku="1" overflowPunctuation="1"/>
          <a:lstStyle/>
          <a:p>
            <a:pPr algn="ctr"/>
            <a:r>
              <a:rPr sz="1500" b="1" lang="zh-CN">
                <a:solidFill>
                  <a:srgbClr val="080A14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755648"/>
            <a:ext cx="2468880" cy="123444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800" b="1" lang="zh-CN">
                <a:solidFill>
                  <a:srgbClr val="F2F2FA"/>
                </a:solidFill>
                <a:latin typeface="微软雅黑"/>
                <a:ea typeface="微软雅黑"/>
              </a:rPr>
              <a:t>项目简介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定位 · 技术路线 · 系统特征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91840"/>
            <a:ext cx="658368" cy="457200"/>
          </a:xfrm>
          <a:prstGeom prst="roundRect">
            <a:avLst>
              <a:gd name="adj" fmla="val 25000"/>
            </a:avLst>
          </a:prstGeom>
          <a:solidFill>
            <a:srgbClr val="36F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kinsoku="1" overflowPunctuation="1"/>
          <a:lstStyle/>
          <a:p>
            <a:pPr algn="ctr"/>
            <a:r>
              <a:rPr sz="1500" b="1" lang="zh-CN">
                <a:solidFill>
                  <a:srgbClr val="080A14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3264408"/>
            <a:ext cx="2468880" cy="123444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800" b="1" lang="zh-CN">
                <a:solidFill>
                  <a:srgbClr val="F2F2FA"/>
                </a:solidFill>
                <a:latin typeface="微软雅黑"/>
                <a:ea typeface="微软雅黑"/>
              </a:rPr>
              <a:t>总体架构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系统分层 · 启动流程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00600"/>
            <a:ext cx="658368" cy="457200"/>
          </a:xfrm>
          <a:prstGeom prst="roundRect">
            <a:avLst>
              <a:gd name="adj" fmla="val 25000"/>
            </a:avLst>
          </a:prstGeom>
          <a:solidFill>
            <a:srgbClr val="B0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kinsoku="1" overflowPunctuation="1"/>
          <a:lstStyle/>
          <a:p>
            <a:pPr algn="ctr"/>
            <a:r>
              <a:rPr sz="1500" b="1" lang="zh-CN">
                <a:solidFill>
                  <a:srgbClr val="080A14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4773168"/>
            <a:ext cx="2468880" cy="123444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800" b="1" lang="zh-CN">
                <a:solidFill>
                  <a:srgbClr val="F2F2FA"/>
                </a:solidFill>
                <a:latin typeface="微软雅黑"/>
                <a:ea typeface="微软雅黑"/>
              </a:rPr>
              <a:t>SMP 调度与并发同步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队列模型 · 阻塞唤醒 · 领域锁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1783080"/>
            <a:ext cx="658368" cy="457200"/>
          </a:xfrm>
          <a:prstGeom prst="roundRect">
            <a:avLst>
              <a:gd name="adj" fmla="val 25000"/>
            </a:avLst>
          </a:prstGeom>
          <a:solidFill>
            <a:srgbClr val="FF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kinsoku="1" overflowPunctuation="1"/>
          <a:lstStyle/>
          <a:p>
            <a:pPr algn="ctr"/>
            <a:r>
              <a:rPr sz="1500" b="1" lang="zh-CN">
                <a:solidFill>
                  <a:srgbClr val="080A14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3248" y="1755648"/>
            <a:ext cx="2468880" cy="123444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800" b="1" lang="zh-CN">
                <a:solidFill>
                  <a:srgbClr val="F2F2FA"/>
                </a:solidFill>
                <a:latin typeface="微软雅黑"/>
                <a:ea typeface="微软雅黑"/>
              </a:rPr>
              <a:t>关键模块设计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进程 COW · 内存 · 网络 · 信号 · syscall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291840"/>
            <a:ext cx="658368" cy="457200"/>
          </a:xfrm>
          <a:prstGeom prst="roundRect">
            <a:avLst>
              <a:gd name="adj" fmla="val 25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kinsoku="1" overflowPunctuation="1"/>
          <a:lstStyle/>
          <a:p>
            <a:pPr algn="ctr"/>
            <a:r>
              <a:rPr sz="1500" b="1" lang="zh-CN">
                <a:solidFill>
                  <a:srgbClr val="080A14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3248" y="3264408"/>
            <a:ext cx="2468880" cy="123444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800" b="1" lang="zh-CN">
                <a:solidFill>
                  <a:srgbClr val="F2F2FA"/>
                </a:solidFill>
                <a:latin typeface="微软雅黑"/>
                <a:ea typeface="微软雅黑"/>
              </a:rPr>
              <a:t>决赛负载适配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CAgent · BuildStorm 复杂构建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4800600"/>
            <a:ext cx="658368" cy="457200"/>
          </a:xfrm>
          <a:prstGeom prst="roundRect">
            <a:avLst>
              <a:gd name="adj" fmla="val 25000"/>
            </a:avLst>
          </a:prstGeom>
          <a:solidFill>
            <a:srgbClr val="36F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kinsoku="1" overflowPunctuation="1"/>
          <a:lstStyle/>
          <a:p>
            <a:pPr algn="ctr"/>
            <a:r>
              <a:rPr sz="1500" b="1" lang="zh-CN">
                <a:solidFill>
                  <a:srgbClr val="080A14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4773168"/>
            <a:ext cx="2468880" cy="123444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800" b="1" lang="zh-CN">
                <a:solidFill>
                  <a:srgbClr val="F2F2FA"/>
                </a:solidFill>
                <a:latin typeface="微软雅黑"/>
                <a:ea typeface="微软雅黑"/>
              </a:rPr>
              <a:t>工程特色与安全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VFS/Dentry · File trait · Rust 安全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1783080"/>
            <a:ext cx="658368" cy="457200"/>
          </a:xfrm>
          <a:prstGeom prst="roundRect">
            <a:avLst>
              <a:gd name="adj" fmla="val 25000"/>
            </a:avLst>
          </a:prstGeom>
          <a:solidFill>
            <a:srgbClr val="B0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kinsoku="1" overflowPunctuation="1"/>
          <a:lstStyle/>
          <a:p>
            <a:pPr algn="ctr"/>
            <a:r>
              <a:rPr sz="1500" b="1" lang="zh-CN">
                <a:solidFill>
                  <a:srgbClr val="080A14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8" y="1755648"/>
            <a:ext cx="2468880" cy="123444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800" b="1" lang="zh-CN">
                <a:solidFill>
                  <a:srgbClr val="F2F2FA"/>
                </a:solidFill>
                <a:latin typeface="微软雅黑"/>
                <a:ea typeface="微软雅黑"/>
              </a:rPr>
              <a:t>技术问题与解决方案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四类代表性案例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3291840"/>
            <a:ext cx="658368" cy="457200"/>
          </a:xfrm>
          <a:prstGeom prst="roundRect">
            <a:avLst>
              <a:gd name="adj" fmla="val 25000"/>
            </a:avLst>
          </a:prstGeom>
          <a:solidFill>
            <a:srgbClr val="FF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kinsoku="1" overflowPunctuation="1"/>
          <a:lstStyle/>
          <a:p>
            <a:pPr algn="ctr"/>
            <a:r>
              <a:rPr sz="1500" b="1" lang="zh-CN">
                <a:solidFill>
                  <a:srgbClr val="080A14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8" y="3264408"/>
            <a:ext cx="2468880" cy="123444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800" b="1" lang="zh-CN">
                <a:solidFill>
                  <a:srgbClr val="F2F2FA"/>
                </a:solidFill>
                <a:latin typeface="微软雅黑"/>
                <a:ea typeface="微软雅黑"/>
              </a:rPr>
              <a:t>总结与展望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经验总结 · 后续计划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6803136"/>
            <a:ext cx="12100255" cy="54864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548640" y="914400"/>
            <a:ext cx="4572000" cy="36576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6000" b="1" lang="zh-CN">
                <a:solidFill>
                  <a:srgbClr val="2E5078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4200" b="1" lang="zh-CN">
                <a:solidFill>
                  <a:srgbClr val="F2F2FA"/>
                </a:solidFill>
                <a:latin typeface="微软雅黑"/>
                <a:ea typeface="微软雅黑"/>
              </a:rPr>
              <a:t>项目简介</a:t>
            </a:r>
          </a:p>
          <a:p>
            <a:pPr algn="l">
              <a:spcBef>
                <a:spcPts val="600"/>
              </a:spcBef>
            </a:pPr>
            <a:r>
              <a:rPr sz="1300" b="0" lang="zh-CN">
                <a:solidFill>
                  <a:srgbClr val="9093A8"/>
                </a:solidFill>
                <a:latin typeface="微软雅黑"/>
                <a:ea typeface="微软雅黑"/>
              </a:rPr>
              <a:t>Project · Design Goals · System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00" b="0" lang="zh-CN">
                <a:solidFill>
                  <a:srgbClr val="9093A8"/>
                </a:solidFill>
                <a:latin typeface="微软雅黑"/>
                <a:ea typeface="微软雅黑"/>
              </a:rPr>
              <a:t>基于 rCore 教学内核扩展、以 Rust 实现的竞赛内核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3736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0312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6888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2600" b="1" lang="zh-CN">
                <a:solidFill>
                  <a:srgbClr val="F2F2FA"/>
                </a:solidFill>
                <a:latin typeface="微软雅黑"/>
                <a:ea typeface="微软雅黑"/>
              </a:rPr>
              <a:t>系统定位与设计目标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项目定位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83664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在 rCore-Tutorial 教学内核基础上扩展的竞赛内核，全 Rust 编写（no_std、无运行时）；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核心目标：在 QEMU 评测环境中提供兼容 Linux ABI 的用户程序运行环境；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覆盖进程/线程、COW、按需虚拟内存、VFS + Ext4 双盘、VirtIO 块设备与网络、信号/futex、eventfd/epoll/pipe/socketpair。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83280"/>
            <a:ext cx="10881360" cy="18288"/>
          </a:xfrm>
          <a:prstGeom prst="rect">
            <a:avLst/>
          </a:prstGeom>
          <a:solidFill>
            <a:srgbClr val="1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630168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3611880"/>
            <a:ext cx="10314432" cy="38404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技术路线：从 rCore 最小内核闭环逐层扩展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14216"/>
            <a:ext cx="10881360" cy="265176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继承 rCore：裸机启动、特权级切换、陷阱框架、任务抽象与地址空间骨架；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文件系统：单 Ext4 → VFS + Dentry + 挂载表 + 双盘结构；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内存：写时复制、按需 ELF 装载、文件页缓存、远端 TLB 刷新；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进程模型：fork/exec/wait、线程组、信号、fd 继承；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网络：smoltcp + VirtIO-Net，TCP/UDP 与本地环回；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决赛阶段：演进为 RISC-V / LoongArch 双架构 SMP 内核。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2600" b="1" lang="zh-CN">
                <a:solidFill>
                  <a:srgbClr val="F2F2FA"/>
                </a:solidFill>
                <a:latin typeface="微软雅黑"/>
                <a:ea typeface="微软雅黑"/>
              </a:rPr>
              <a:t>系统特征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系统特征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" y="2048256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1993392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121408"/>
            <a:ext cx="4846320" cy="9601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400" b="1" lang="zh-CN">
                <a:solidFill>
                  <a:srgbClr val="38E4FF"/>
                </a:solidFill>
                <a:latin typeface="微软雅黑"/>
                <a:ea typeface="微软雅黑"/>
              </a:rPr>
              <a:t>体系结构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RISC-V 64（Sv39，≤8 应用 CPU）· LoongArch 64（≤12 应用 CPU）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9068" y="2048256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993392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121408"/>
            <a:ext cx="4846320" cy="9601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400" b="1" lang="zh-CN">
                <a:solidFill>
                  <a:srgbClr val="36F9A8"/>
                </a:solidFill>
                <a:latin typeface="微软雅黑"/>
                <a:ea typeface="微软雅黑"/>
              </a:rPr>
              <a:t>调度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第一代 SMP：每 CPU FIFO 队列 + 领域锁 + IPI 唤醒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" y="3465576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410712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38728"/>
            <a:ext cx="4846320" cy="9601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400" b="1" lang="zh-CN">
                <a:solidFill>
                  <a:srgbClr val="B07CFF"/>
                </a:solidFill>
                <a:latin typeface="微软雅黑"/>
                <a:ea typeface="微软雅黑"/>
              </a:rPr>
              <a:t>文件系统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Ext4（lwext4_rust）、VFS/Dentry/Mount、双盘挂载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9068" y="3465576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3410712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538728"/>
            <a:ext cx="4846320" cy="9601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400" b="1" lang="zh-CN">
                <a:solidFill>
                  <a:srgbClr val="FF9E4F"/>
                </a:solidFill>
                <a:latin typeface="微软雅黑"/>
                <a:ea typeface="微软雅黑"/>
              </a:rPr>
              <a:t>内存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COW、按需 ELF 装载、文件页缓存、远端 TLB 刷新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" y="4882896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4828032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56048"/>
            <a:ext cx="4846320" cy="9601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400" b="1" lang="zh-CN">
                <a:solidFill>
                  <a:srgbClr val="38E4FF"/>
                </a:solidFill>
                <a:latin typeface="微软雅黑"/>
                <a:ea typeface="微软雅黑"/>
              </a:rPr>
              <a:t>网络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VirtIO-Net + smoltcp，TCP/UDP，本地环回路径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59068" y="4882896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17920" y="4828032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956048"/>
            <a:ext cx="4846320" cy="9601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400" b="1" lang="zh-CN">
                <a:solidFill>
                  <a:srgbClr val="36F9A8"/>
                </a:solidFill>
                <a:latin typeface="微软雅黑"/>
                <a:ea typeface="微软雅黑"/>
              </a:rPr>
              <a:t>事件 I/O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eventfd、epoll、pipe、Unix 域 socketpair、futex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2600" b="1" lang="zh-CN">
                <a:solidFill>
                  <a:srgbClr val="F2F2FA"/>
                </a:solidFill>
                <a:latin typeface="微软雅黑"/>
                <a:ea typeface="微软雅黑"/>
              </a:rPr>
              <a:t>竞赛成绩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00" b="1" lang="zh-CN">
                <a:solidFill>
                  <a:srgbClr val="F2F2FA"/>
                </a:solidFill>
                <a:latin typeface="微软雅黑"/>
                <a:ea typeface="微软雅黑"/>
              </a:rPr>
              <a:t>初赛 1906 分 · 排行榜第 47 名（2026-06-29）    →    决赛 709 分 · 排行榜第 10 名（2026-08-12）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21408"/>
            <a:ext cx="5486400" cy="3977639"/>
          </a:xfrm>
          <a:prstGeom prst="roundRect">
            <a:avLst>
              <a:gd name="adj" fmla="val 5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21284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400" b="1" lang="zh-CN">
                <a:solidFill>
                  <a:srgbClr val="38E4FF"/>
                </a:solidFill>
                <a:latin typeface="微软雅黑"/>
                <a:ea typeface="微软雅黑"/>
              </a:rPr>
              <a:t>初赛得分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624328"/>
            <a:ext cx="512064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A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188" y="2715768"/>
            <a:ext cx="1822182" cy="13898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" y="431596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400" b="1" lang="zh-CN">
                <a:solidFill>
                  <a:srgbClr val="38E4FF"/>
                </a:solidFill>
                <a:latin typeface="微软雅黑"/>
                <a:ea typeface="微软雅黑"/>
              </a:rPr>
              <a:t>初赛排名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727448"/>
            <a:ext cx="512064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A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a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6367" y="4818888"/>
            <a:ext cx="1753825" cy="105156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355080" y="2121408"/>
            <a:ext cx="5212080" cy="3977639"/>
          </a:xfrm>
          <a:prstGeom prst="roundRect">
            <a:avLst>
              <a:gd name="adj" fmla="val 5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21284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400" b="1" lang="zh-CN">
                <a:solidFill>
                  <a:srgbClr val="36F9A8"/>
                </a:solidFill>
                <a:latin typeface="微软雅黑"/>
                <a:ea typeface="微软雅黑"/>
              </a:rPr>
              <a:t>决赛得分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2624328"/>
            <a:ext cx="484632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A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决赛得分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0514" y="2715768"/>
            <a:ext cx="2201210" cy="13898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37960" y="431596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400" b="1" lang="zh-CN">
                <a:solidFill>
                  <a:srgbClr val="36F9A8"/>
                </a:solidFill>
                <a:latin typeface="微软雅黑"/>
                <a:ea typeface="微软雅黑"/>
              </a:rPr>
              <a:t>决赛排名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4727448"/>
            <a:ext cx="484632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A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决赛排名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060" y="4818888"/>
            <a:ext cx="1830118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6803136"/>
            <a:ext cx="12100255" cy="54864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548640" y="914400"/>
            <a:ext cx="4572000" cy="36576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6000" b="1" lang="zh-CN">
                <a:solidFill>
                  <a:srgbClr val="2E5078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4200" b="1" lang="zh-CN">
                <a:solidFill>
                  <a:srgbClr val="F2F2FA"/>
                </a:solidFill>
                <a:latin typeface="微软雅黑"/>
                <a:ea typeface="微软雅黑"/>
              </a:rPr>
              <a:t>总体架构</a:t>
            </a:r>
          </a:p>
          <a:p>
            <a:pPr algn="l">
              <a:spcBef>
                <a:spcPts val="600"/>
              </a:spcBef>
            </a:pPr>
            <a:r>
              <a:rPr sz="1300" b="0" lang="zh-CN">
                <a:solidFill>
                  <a:srgbClr val="9093A8"/>
                </a:solidFill>
                <a:latin typeface="微软雅黑"/>
                <a:ea typeface="微软雅黑"/>
              </a:rPr>
              <a:t>Overall Architecture · Boot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00" b="0" lang="zh-CN">
                <a:solidFill>
                  <a:srgbClr val="9093A8"/>
                </a:solidFill>
                <a:latin typeface="微软雅黑"/>
                <a:ea typeface="微软雅黑"/>
              </a:rPr>
              <a:t>用户态 → 系统调用与陷阱层 → 内核核心子系统 → 设备层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3736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0312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6888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2600" b="1" lang="zh-CN">
                <a:solidFill>
                  <a:srgbClr val="F2F2FA"/>
                </a:solidFill>
                <a:latin typeface="微软雅黑"/>
                <a:ea typeface="微软雅黑"/>
              </a:rPr>
              <a:t>总体架构：四层模型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4846320" cy="4846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分层设计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84248"/>
            <a:ext cx="4846320" cy="22860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用户态：静态链接 / glibc 用户程序，经 ecall 进入内核；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系统调用与陷阱层：统一陷阱入口，ABI 解码 + 模块转发；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内核核心子系统：SMP 调度、进程、内存、VFS/Ext4、信号、网络；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设备层：VirtIO 块设备与网卡、串口（RISC-V MMIO / LoongArch PCI）；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13048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3794760"/>
            <a:ext cx="10314432" cy="38404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模块化边界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97096"/>
            <a:ext cx="4846320" cy="219456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task / mm / fs / net / drivers 按功能划分，系统调用层只做参数转换、地址校验与权限检查；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时钟中断在保持调度精度的同时驱动定时器与网络轮询。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47588" y="1517904"/>
            <a:ext cx="5852160" cy="4892040"/>
          </a:xfrm>
          <a:prstGeom prst="roundRect">
            <a:avLst>
              <a:gd name="adj" fmla="val 5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06440" y="1463040"/>
            <a:ext cx="5852160" cy="4892040"/>
          </a:xfrm>
          <a:prstGeom prst="roundRect">
            <a:avLst>
              <a:gd name="adj" fmla="val 5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25896" y="1828800"/>
            <a:ext cx="5413248" cy="394106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A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总体架构图@3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336" y="2160053"/>
            <a:ext cx="5230368" cy="32785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35040" y="6035039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ctr"/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ScintillaOS 总体架构（四层模型）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2600" b="1" lang="zh-CN">
                <a:solidFill>
                  <a:srgbClr val="F2F2FA"/>
                </a:solidFill>
                <a:latin typeface="微软雅黑"/>
                <a:ea typeface="微软雅黑"/>
              </a:rPr>
              <a:t>启动与执行流程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4846320" cy="4846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启动路径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84248"/>
            <a:ext cx="4846320" cy="310896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主 CPU：初始化内核堆、帧分配器、页表、陷阱、根 Ext4、设备 → 装载 /bin/initproc；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次级 hart：先初始化 per-CPU 存储与 idle 上下文，待全局就绪与首任务交接后才上线调度；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统一陷阱入口：系统调用、缺页、时钟/设备中断纳入同一可信边界；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时钟中断驱动调度节拍、睡眠检查、到期定时器与网络轮询。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" y="4809744"/>
            <a:ext cx="4846320" cy="1371600"/>
          </a:xfrm>
          <a:prstGeom prst="roundRect">
            <a:avLst>
              <a:gd name="adj" fmla="val 8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4754880"/>
            <a:ext cx="4846320" cy="1371600"/>
          </a:xfrm>
          <a:prstGeom prst="roundRect">
            <a:avLst>
              <a:gd name="adj" fmla="val 8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4343400" cy="109728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350" b="1" lang="zh-CN">
                <a:solidFill>
                  <a:srgbClr val="38E4FF"/>
                </a:solidFill>
                <a:latin typeface="微软雅黑"/>
                <a:ea typeface="微软雅黑"/>
              </a:rPr>
              <a:t>多核启动协议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250" b="0" lang="zh-CN">
                <a:solidFill>
                  <a:srgbClr val="F2F2FA"/>
                </a:solidFill>
                <a:latin typeface="微软雅黑"/>
                <a:ea typeface="微软雅黑"/>
              </a:rPr>
              <a:t>两级发布：先 SMP_PERCPU_READY，再 SMP_GLOBAL_INIT_DONE；首个用户任务交接后才注册 online bit 加入调度。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47588" y="1517904"/>
            <a:ext cx="5852160" cy="4892040"/>
          </a:xfrm>
          <a:prstGeom prst="roundRect">
            <a:avLst>
              <a:gd name="adj" fmla="val 5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06440" y="1463040"/>
            <a:ext cx="5852160" cy="4892040"/>
          </a:xfrm>
          <a:prstGeom prst="roundRect">
            <a:avLst>
              <a:gd name="adj" fmla="val 5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25896" y="1828800"/>
            <a:ext cx="5413248" cy="394106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A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PU启动流程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676" y="1920240"/>
            <a:ext cx="2079687" cy="375818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35040" y="6035039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ctr"/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从内核启动到首个用户进程执行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6803136"/>
            <a:ext cx="12100255" cy="54864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548640" y="914400"/>
            <a:ext cx="4572000" cy="36576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6000" b="1" lang="zh-CN">
                <a:solidFill>
                  <a:srgbClr val="2E5078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4200" b="1" lang="zh-CN">
                <a:solidFill>
                  <a:srgbClr val="F2F2FA"/>
                </a:solidFill>
                <a:latin typeface="微软雅黑"/>
                <a:ea typeface="微软雅黑"/>
              </a:rPr>
              <a:t>SMP 调度与并发同步</a:t>
            </a:r>
          </a:p>
          <a:p>
            <a:pPr algn="l">
              <a:spcBef>
                <a:spcPts val="600"/>
              </a:spcBef>
            </a:pPr>
            <a:r>
              <a:rPr sz="1300" b="0" lang="zh-CN">
                <a:solidFill>
                  <a:srgbClr val="9093A8"/>
                </a:solidFill>
                <a:latin typeface="微软雅黑"/>
                <a:ea typeface="微软雅黑"/>
              </a:rPr>
              <a:t>SMP Scheduling &amp; Concurrency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00" b="0" lang="zh-CN">
                <a:solidFill>
                  <a:srgbClr val="9093A8"/>
                </a:solidFill>
                <a:latin typeface="微软雅黑"/>
                <a:ea typeface="微软雅黑"/>
              </a:rPr>
              <a:t>每 CPU 队列 + 领域锁 + 统一阻塞唤醒 + IPI / 远端 TLB 刷新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3736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0312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6888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2600" b="1" lang="zh-CN">
                <a:solidFill>
                  <a:srgbClr val="F2F2FA"/>
                </a:solidFill>
                <a:latin typeface="微软雅黑"/>
                <a:ea typeface="微软雅黑"/>
              </a:rPr>
              <a:t>SMP 调度模型与核心不变量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4937760" cy="4846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第一代 SMP：每 CPU FIFO 就绪队列 + 全局 SchedulerLock 事务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83664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队列按 CPU 划分保留局部性；任务取放、状态转换与等待登记由 SchedulerLock 串行化；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按 allowed_cpus ∩ online_mask 选目标队列，优先 last_cpu；本地无任务时顺序偷取。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27248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3108960"/>
            <a:ext cx="10314432" cy="38404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三个核心不变量（正确性语义）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2102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kinsoku="1" overflowPunctuation="1"/>
          <a:lstStyle/>
          <a:p>
            <a:pPr algn="ctr">
              <a:lnSpc>
                <a:spcPct val="115000"/>
              </a:lnSpc>
            </a:pPr>
            <a:r>
              <a:rPr sz="1250" b="1" lang="zh-CN">
                <a:solidFill>
                  <a:srgbClr val="080A14"/>
                </a:solidFill>
                <a:latin typeface="微软雅黑"/>
                <a:ea typeface="微软雅黑"/>
              </a:rPr>
              <a:t>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611880"/>
            <a:ext cx="4434840" cy="621792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zh-CN">
                <a:solidFill>
                  <a:srgbClr val="F2F2FA"/>
                </a:solidFill>
                <a:latin typeface="微软雅黑"/>
                <a:ea typeface="微软雅黑"/>
              </a:rPr>
              <a:t>每任务至多一个就绪队列条目（enqueued 原子位）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9768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36F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kinsoku="1" overflowPunctuation="1"/>
          <a:lstStyle/>
          <a:p>
            <a:pPr algn="ctr">
              <a:lnSpc>
                <a:spcPct val="115000"/>
              </a:lnSpc>
            </a:pPr>
            <a:r>
              <a:rPr sz="1250" b="1" lang="zh-CN">
                <a:solidFill>
                  <a:srgbClr val="080A14"/>
                </a:solidFill>
                <a:latin typeface="微软雅黑"/>
                <a:ea typeface="微软雅黑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288536"/>
            <a:ext cx="4434840" cy="621792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zh-CN">
                <a:solidFill>
                  <a:srgbClr val="F2F2FA"/>
                </a:solidFill>
                <a:latin typeface="微软雅黑"/>
                <a:ea typeface="微软雅黑"/>
              </a:rPr>
              <a:t>每任务同时至多被一个 CPU 执行（running_cpu 原子 compare-exchange）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97433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B0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kinsoku="1" overflowPunctuation="1"/>
          <a:lstStyle/>
          <a:p>
            <a:pPr algn="ctr">
              <a:lnSpc>
                <a:spcPct val="115000"/>
              </a:lnSpc>
            </a:pPr>
            <a:r>
              <a:rPr sz="1250" b="1" lang="zh-CN">
                <a:solidFill>
                  <a:srgbClr val="080A14"/>
                </a:solidFill>
                <a:latin typeface="微软雅黑"/>
                <a:ea typeface="微软雅黑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965192"/>
            <a:ext cx="4434840" cy="621792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lang="zh-CN">
                <a:solidFill>
                  <a:srgbClr val="F2F2FA"/>
                </a:solidFill>
                <a:latin typeface="微软雅黑"/>
                <a:ea typeface="微软雅黑"/>
              </a:rPr>
              <a:t>阻塞任务离开 CPU 前不能被其他 CPU 重新入队（Blocking / WakePending 延迟发布）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751576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在线 CPU 掩码动态发布实际参与调度的核数，同一内核可在较小 -smp 配置下运行；RISC-V 默认 ≤8 核、LoongArch ≤12 核。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47588" y="1517904"/>
            <a:ext cx="5852160" cy="4892040"/>
          </a:xfrm>
          <a:prstGeom prst="roundRect">
            <a:avLst>
              <a:gd name="adj" fmla="val 5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06440" y="1463040"/>
            <a:ext cx="5852160" cy="4892040"/>
          </a:xfrm>
          <a:prstGeom prst="roundRect">
            <a:avLst>
              <a:gd name="adj" fmla="val 5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25896" y="1828800"/>
            <a:ext cx="5413248" cy="394106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A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P调度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336" y="2378415"/>
            <a:ext cx="5230368" cy="284183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35040" y="6035039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ctr"/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SMP 调度：每 CPU FIFO 就绪队列与任务唯一所有权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2600" b="1" lang="zh-CN">
                <a:solidFill>
                  <a:srgbClr val="F2F2FA"/>
                </a:solidFill>
                <a:latin typeface="微软雅黑"/>
                <a:ea typeface="微软雅黑"/>
              </a:rPr>
              <a:t>统一阻塞唤醒与跨核可见性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394960" cy="4846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统一阻塞协议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84248"/>
            <a:ext cx="5394960" cy="192024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两阶段：先在 SchedulerLock 下置 Blocking 并登记等待队列，再释放锁二次检查条件；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条件已满足 → 取消阻塞继续执行；仍不满足 → 才真正切换至 idle；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覆盖 pipe、wait、futex、带截止时间的睡眠、poll/UDP 等路径；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75887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3657600"/>
            <a:ext cx="10314432" cy="38404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竞争唤醒（不变量③）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59936"/>
            <a:ext cx="5394960" cy="18288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仍为 Blocking → 只置 WakePending，由原 CPU 在上下文保存完成后发布 Ready；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已为 Blocked → 置 Ready 入队首，并向目标 CPU 发重调度请求；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4788" y="1536192"/>
            <a:ext cx="5349240" cy="4892040"/>
          </a:xfrm>
          <a:prstGeom prst="roundRect">
            <a:avLst>
              <a:gd name="adj" fmla="val 5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481328"/>
            <a:ext cx="5349240" cy="4892040"/>
          </a:xfrm>
          <a:prstGeom prst="roundRect">
            <a:avLst>
              <a:gd name="adj" fmla="val 5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1545336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任务状态机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2194560"/>
            <a:ext cx="1783080" cy="777240"/>
          </a:xfrm>
          <a:prstGeom prst="roundRect">
            <a:avLst>
              <a:gd name="adj" fmla="val 16000"/>
            </a:avLst>
          </a:prstGeom>
          <a:solidFill>
            <a:srgbClr val="5053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kinsoku="1" overflowPunctuation="1"/>
          <a:lstStyle/>
          <a:p>
            <a:pPr algn="ctr">
              <a:lnSpc>
                <a:spcPct val="115000"/>
              </a:lnSpc>
            </a:pPr>
            <a:r>
              <a:rPr sz="1450" b="1" lang="zh-CN">
                <a:solidFill>
                  <a:srgbClr val="080A14"/>
                </a:solidFill>
                <a:latin typeface="微软雅黑"/>
                <a:ea typeface="微软雅黑"/>
              </a:rPr>
              <a:t>Running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337560"/>
            <a:ext cx="1783080" cy="777240"/>
          </a:xfrm>
          <a:prstGeom prst="roundRect">
            <a:avLst>
              <a:gd name="adj" fmla="val 16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kinsoku="1" overflowPunctuation="1"/>
          <a:lstStyle/>
          <a:p>
            <a:pPr algn="ctr">
              <a:lnSpc>
                <a:spcPct val="115000"/>
              </a:lnSpc>
            </a:pPr>
            <a:r>
              <a:rPr sz="1450" b="1" lang="zh-CN">
                <a:solidFill>
                  <a:srgbClr val="080A14"/>
                </a:solidFill>
                <a:latin typeface="微软雅黑"/>
                <a:ea typeface="微软雅黑"/>
              </a:rPr>
              <a:t>Blocking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4480560"/>
            <a:ext cx="1783080" cy="777240"/>
          </a:xfrm>
          <a:prstGeom prst="roundRect">
            <a:avLst>
              <a:gd name="adj" fmla="val 16000"/>
            </a:avLst>
          </a:prstGeom>
          <a:solidFill>
            <a:srgbClr val="FF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kinsoku="1" overflowPunctuation="1"/>
          <a:lstStyle/>
          <a:p>
            <a:pPr algn="ctr">
              <a:lnSpc>
                <a:spcPct val="115000"/>
              </a:lnSpc>
            </a:pPr>
            <a:r>
              <a:rPr sz="1450" b="1" lang="zh-CN">
                <a:solidFill>
                  <a:srgbClr val="080A14"/>
                </a:solidFill>
                <a:latin typeface="微软雅黑"/>
                <a:ea typeface="微软雅黑"/>
              </a:rPr>
              <a:t>Blocked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5623560"/>
            <a:ext cx="1783080" cy="777240"/>
          </a:xfrm>
          <a:prstGeom prst="roundRect">
            <a:avLst>
              <a:gd name="adj" fmla="val 16000"/>
            </a:avLst>
          </a:prstGeom>
          <a:solidFill>
            <a:srgbClr val="36F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kinsoku="1" overflowPunctuation="1"/>
          <a:lstStyle/>
          <a:p>
            <a:pPr algn="ctr">
              <a:lnSpc>
                <a:spcPct val="115000"/>
              </a:lnSpc>
            </a:pPr>
            <a:r>
              <a:rPr sz="1450" b="1" lang="zh-CN">
                <a:solidFill>
                  <a:srgbClr val="080A14"/>
                </a:solidFill>
                <a:latin typeface="微软雅黑"/>
                <a:ea typeface="微软雅黑"/>
              </a:rPr>
              <a:t>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331720"/>
            <a:ext cx="2834640" cy="6858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登记等待
SchedulerLock 下发布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3474720"/>
            <a:ext cx="2834640" cy="6858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二次检查
失败才切出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4617720"/>
            <a:ext cx="2834640" cy="6858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事件唤醒
队首入队 + IPI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5760720"/>
            <a:ext cx="2834640" cy="6858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WakePending：
上下文保存后发布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2600" b="1" lang="zh-CN">
                <a:solidFill>
                  <a:srgbClr val="F2F2FA"/>
                </a:solidFill>
                <a:latin typeface="微软雅黑"/>
                <a:ea typeface="微软雅黑"/>
              </a:rPr>
              <a:t>领域锁、锁顺序与并发诊断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6492240" cy="4846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为什么不用单一全局锁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83664"/>
            <a:ext cx="6492240" cy="429768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任务队列、进程表、fd 表、页帧、Dentry、Ext4、设备队列被多 CPU 并发访问；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领域锁按固定等级组织：CPU本地 → PID → futex → 调度器 → 文件表/任务/信号 → 虚拟内存 → VFS/页缓存 → 页帧 → Ext4/Dentry/设备；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不允许持锁跨越调度、阻塞 I/O、用户地址转换、页表修改、SBI 调用或外部回调；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固定顺序：SchedulerLock → TaskLock（禁止反向）。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47788" y="1536192"/>
            <a:ext cx="4160520" cy="4892040"/>
          </a:xfrm>
          <a:prstGeom prst="roundRect">
            <a:avLst>
              <a:gd name="adj" fmla="val 5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0" y="1481328"/>
            <a:ext cx="4160520" cy="4892040"/>
          </a:xfrm>
          <a:prstGeom prst="roundRect">
            <a:avLst>
              <a:gd name="adj" fmla="val 5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545336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锁等级（0–18）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2093976"/>
            <a:ext cx="914400" cy="512064"/>
          </a:xfrm>
          <a:prstGeom prst="roundRect">
            <a:avLst>
              <a:gd name="adj" fmla="val 14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kinsoku="1" overflowPunctuation="1"/>
          <a:lstStyle/>
          <a:p>
            <a:pPr algn="ctr">
              <a:lnSpc>
                <a:spcPct val="115000"/>
              </a:lnSpc>
            </a:pPr>
            <a:r>
              <a:rPr sz="1250" b="1" lang="zh-CN">
                <a:solidFill>
                  <a:srgbClr val="080A14"/>
                </a:solidFill>
                <a:latin typeface="微软雅黑"/>
                <a:ea typeface="微软雅黑"/>
              </a:rPr>
              <a:t>0–3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2093976"/>
            <a:ext cx="2606040" cy="512064"/>
          </a:xfrm>
          <a:prstGeom prst="roundRect">
            <a:avLst>
              <a:gd name="adj" fmla="val 14000"/>
            </a:avLst>
          </a:prstGeom>
          <a:solidFill>
            <a:srgbClr val="1B2138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kinsoku="1" overflowPunctuation="1"/>
          <a:lstStyle/>
          <a:p>
            <a:pPr algn="l">
              <a:lnSpc>
                <a:spcPct val="115000"/>
              </a:lnSpc>
            </a:pPr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CpuLocal / Pid / Futex / Scheduler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2752344"/>
            <a:ext cx="914400" cy="512064"/>
          </a:xfrm>
          <a:prstGeom prst="roundRect">
            <a:avLst>
              <a:gd name="adj" fmla="val 14000"/>
            </a:avLst>
          </a:prstGeom>
          <a:solidFill>
            <a:srgbClr val="36F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kinsoku="1" overflowPunctuation="1"/>
          <a:lstStyle/>
          <a:p>
            <a:pPr algn="ctr">
              <a:lnSpc>
                <a:spcPct val="115000"/>
              </a:lnSpc>
            </a:pPr>
            <a:r>
              <a:rPr sz="1250" b="1" lang="zh-CN">
                <a:solidFill>
                  <a:srgbClr val="080A14"/>
                </a:solidFill>
                <a:latin typeface="微软雅黑"/>
                <a:ea typeface="微软雅黑"/>
              </a:rPr>
              <a:t>4–6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2752344"/>
            <a:ext cx="2606040" cy="512064"/>
          </a:xfrm>
          <a:prstGeom prst="roundRect">
            <a:avLst>
              <a:gd name="adj" fmla="val 14000"/>
            </a:avLst>
          </a:prstGeom>
          <a:solidFill>
            <a:srgbClr val="1B2138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kinsoku="1" overflowPunctuation="1"/>
          <a:lstStyle/>
          <a:p>
            <a:pPr algn="l">
              <a:lnSpc>
                <a:spcPct val="115000"/>
              </a:lnSpc>
            </a:pPr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Files / Task / SignalActions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3410711"/>
            <a:ext cx="914400" cy="512064"/>
          </a:xfrm>
          <a:prstGeom prst="roundRect">
            <a:avLst>
              <a:gd name="adj" fmla="val 14000"/>
            </a:avLst>
          </a:prstGeom>
          <a:solidFill>
            <a:srgbClr val="B0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kinsoku="1" overflowPunctuation="1"/>
          <a:lstStyle/>
          <a:p>
            <a:pPr algn="ctr">
              <a:lnSpc>
                <a:spcPct val="115000"/>
              </a:lnSpc>
            </a:pPr>
            <a:r>
              <a:rPr sz="1250" b="1" lang="zh-CN">
                <a:solidFill>
                  <a:srgbClr val="080A14"/>
                </a:solidFill>
                <a:latin typeface="微软雅黑"/>
                <a:ea typeface="微软雅黑"/>
              </a:rPr>
              <a:t>7–9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3410711"/>
            <a:ext cx="2606040" cy="512064"/>
          </a:xfrm>
          <a:prstGeom prst="roundRect">
            <a:avLst>
              <a:gd name="adj" fmla="val 14000"/>
            </a:avLst>
          </a:prstGeom>
          <a:solidFill>
            <a:srgbClr val="1B2138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kinsoku="1" overflowPunctuation="1"/>
          <a:lstStyle/>
          <a:p>
            <a:pPr algn="l">
              <a:lnSpc>
                <a:spcPct val="115000"/>
              </a:lnSpc>
            </a:pPr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Vm / VmPages / VmPageTable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4069079"/>
            <a:ext cx="914400" cy="512064"/>
          </a:xfrm>
          <a:prstGeom prst="roundRect">
            <a:avLst>
              <a:gd name="adj" fmla="val 14000"/>
            </a:avLst>
          </a:prstGeom>
          <a:solidFill>
            <a:srgbClr val="FF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kinsoku="1" overflowPunctuation="1"/>
          <a:lstStyle/>
          <a:p>
            <a:pPr algn="ctr">
              <a:lnSpc>
                <a:spcPct val="115000"/>
              </a:lnSpc>
            </a:pPr>
            <a:r>
              <a:rPr sz="1250" b="1" lang="zh-CN">
                <a:solidFill>
                  <a:srgbClr val="080A14"/>
                </a:solidFill>
                <a:latin typeface="微软雅黑"/>
                <a:ea typeface="微软雅黑"/>
              </a:rPr>
              <a:t>10–13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2520" y="4069079"/>
            <a:ext cx="2606040" cy="512064"/>
          </a:xfrm>
          <a:prstGeom prst="roundRect">
            <a:avLst>
              <a:gd name="adj" fmla="val 14000"/>
            </a:avLst>
          </a:prstGeom>
          <a:solidFill>
            <a:srgbClr val="1B2138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kinsoku="1" overflowPunctuation="1"/>
          <a:lstStyle/>
          <a:p>
            <a:pPr algn="l">
              <a:lnSpc>
                <a:spcPct val="115000"/>
              </a:lnSpc>
            </a:pPr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Vfs / PageCache / FrameRef / FrameAlloc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4727447"/>
            <a:ext cx="914400" cy="512064"/>
          </a:xfrm>
          <a:prstGeom prst="roundRect">
            <a:avLst>
              <a:gd name="adj" fmla="val 14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kinsoku="1" overflowPunctuation="1"/>
          <a:lstStyle/>
          <a:p>
            <a:pPr algn="ctr">
              <a:lnSpc>
                <a:spcPct val="115000"/>
              </a:lnSpc>
            </a:pPr>
            <a:r>
              <a:rPr sz="1250" b="1" lang="zh-CN">
                <a:solidFill>
                  <a:srgbClr val="080A14"/>
                </a:solidFill>
                <a:latin typeface="微软雅黑"/>
                <a:ea typeface="微软雅黑"/>
              </a:rPr>
              <a:t>14–18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32520" y="4727447"/>
            <a:ext cx="2606040" cy="512064"/>
          </a:xfrm>
          <a:prstGeom prst="roundRect">
            <a:avLst>
              <a:gd name="adj" fmla="val 14000"/>
            </a:avLst>
          </a:prstGeom>
          <a:solidFill>
            <a:srgbClr val="1B2138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kinsoku="1" overflowPunctuation="1"/>
          <a:lstStyle/>
          <a:p>
            <a:pPr algn="l">
              <a:lnSpc>
                <a:spcPct val="115000"/>
              </a:lnSpc>
            </a:pPr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Fs / FsGlobal / Dentry / FsAux / Device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5522976"/>
            <a:ext cx="3611880" cy="9144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smp-diagnostics 启用 lockdep：检测递归加锁、锁序逆序、同等级地址逆序与持锁切换。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6803136"/>
            <a:ext cx="12100255" cy="54864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548640" y="914400"/>
            <a:ext cx="4572000" cy="36576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6000" b="1" lang="zh-CN">
                <a:solidFill>
                  <a:srgbClr val="2E5078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4200" b="1" lang="zh-CN">
                <a:solidFill>
                  <a:srgbClr val="F2F2FA"/>
                </a:solidFill>
                <a:latin typeface="微软雅黑"/>
                <a:ea typeface="微软雅黑"/>
              </a:rPr>
              <a:t>关键模块设计</a:t>
            </a:r>
          </a:p>
          <a:p>
            <a:pPr algn="l">
              <a:spcBef>
                <a:spcPts val="600"/>
              </a:spcBef>
            </a:pPr>
            <a:r>
              <a:rPr sz="1300" b="0" lang="zh-CN">
                <a:solidFill>
                  <a:srgbClr val="9093A8"/>
                </a:solidFill>
                <a:latin typeface="微软雅黑"/>
                <a:ea typeface="微软雅黑"/>
              </a:rPr>
              <a:t>Key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00" b="0" lang="zh-CN">
                <a:solidFill>
                  <a:srgbClr val="9093A8"/>
                </a:solidFill>
                <a:latin typeface="微软雅黑"/>
                <a:ea typeface="微软雅黑"/>
              </a:rPr>
              <a:t>进程/COW · 虚拟内存 · 网络 · 信号 · 系统调用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3736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0312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6888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2600" b="1" lang="zh-CN">
                <a:solidFill>
                  <a:srgbClr val="F2F2FA"/>
                </a:solidFill>
                <a:latin typeface="微软雅黑"/>
                <a:ea typeface="微软雅黑"/>
              </a:rPr>
              <a:t>进程模型：TCB 与资源组织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394960" cy="4846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TCB 是进程生命周期的中心节点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83664"/>
            <a:ext cx="5394960" cy="420624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聚合 TrapFrame、地址空间、fd 表、cwd/root、父子关系、信号、凭证、线程组；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调度元数据原子化（running_cpu/last_cpu/enqueued/…），与可变进程资源分离；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fork：复制 fd 表（Arc 共享文件对象）+ COW 地址空间；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clone：按 CLONE_VM / FILES / SIGHAND 共享资源；vfork 一次性父子同步；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exit/wait：Zombie 状态保留退出码，孤儿 init 收养，线程组范围 waitpid；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792224"/>
            <a:ext cx="5394960" cy="3608527"/>
          </a:xfrm>
          <a:prstGeom prst="rect">
            <a:avLst/>
          </a:prstGeom>
          <a:solidFill>
            <a:srgbClr val="15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73152" tIns="91440" kinsoku="1" overflowPunctuation="1"/>
          <a:lstStyle/>
          <a:p>
            <a:pPr algn="ctr">
              <a:lnSpc>
                <a:spcPct val="103000"/>
              </a:lnSpc>
              <a:spcAft>
                <a:spcPts val="100"/>
              </a:spcAft>
            </a:pPr>
            <a:r>
              <a:rPr sz="1100" b="1" lang="zh-CN">
                <a:solidFill>
                  <a:srgbClr val="38E4FF"/>
                </a:solidFill>
                <a:latin typeface="Consolas"/>
                <a:ea typeface="Consolas"/>
              </a:rPr>
              <a:t>pub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1" lang="zh-CN">
                <a:solidFill>
                  <a:srgbClr val="38E4FF"/>
                </a:solidFill>
                <a:latin typeface="Consolas"/>
                <a:ea typeface="Consolas"/>
              </a:rPr>
              <a:t>fn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fork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self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: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&amp;</a:t>
            </a:r>
            <a:r>
              <a:rPr sz="1100" b="0" lang="zh-CN">
                <a:solidFill>
                  <a:srgbClr val="FF9E4F"/>
                </a:solidFill>
                <a:latin typeface="Consolas"/>
                <a:ea typeface="Consolas"/>
              </a:rPr>
              <a:t>Arc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&lt;</a:t>
            </a:r>
            <a:r>
              <a:rPr sz="1100" b="0" lang="zh-CN">
                <a:solidFill>
                  <a:srgbClr val="FF9E4F"/>
                </a:solidFill>
                <a:latin typeface="Consolas"/>
                <a:ea typeface="Consolas"/>
              </a:rPr>
              <a:t>TaskControlBlock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&gt;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-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&gt;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FF9E4F"/>
                </a:solidFill>
                <a:latin typeface="Consolas"/>
                <a:ea typeface="Consolas"/>
              </a:rPr>
              <a:t>Option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&lt;</a:t>
            </a:r>
            <a:r>
              <a:rPr sz="1100" b="0" lang="zh-CN">
                <a:solidFill>
                  <a:srgbClr val="FF9E4F"/>
                </a:solidFill>
                <a:latin typeface="Consolas"/>
                <a:ea typeface="Consolas"/>
              </a:rPr>
              <a:t>Arc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&lt;</a:t>
            </a:r>
            <a:r>
              <a:rPr sz="1100" b="0" lang="zh-CN">
                <a:solidFill>
                  <a:srgbClr val="FF9E4F"/>
                </a:solidFill>
                <a:latin typeface="Consolas"/>
                <a:ea typeface="Consolas"/>
              </a:rPr>
              <a:t>TaskControlBlock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&gt;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&gt;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{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1" lang="zh-CN">
                <a:solidFill>
                  <a:srgbClr val="38E4FF"/>
                </a:solidFill>
                <a:latin typeface="Consolas"/>
                <a:ea typeface="Consolas"/>
              </a:rPr>
              <a:t>let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memory_set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=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{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1" lang="zh-CN">
                <a:solidFill>
                  <a:srgbClr val="38E4FF"/>
                </a:solidFill>
                <a:latin typeface="Consolas"/>
                <a:ea typeface="Consolas"/>
              </a:rPr>
              <a:t>let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parent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=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self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inner_exclusive_access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FF9E4F"/>
                </a:solidFill>
                <a:latin typeface="Consolas"/>
                <a:ea typeface="Consolas"/>
              </a:rPr>
              <a:t>MemorySet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: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: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from_existed_user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&amp;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parent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memory_set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?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5A6279"/>
                </a:solidFill>
                <a:latin typeface="Consolas"/>
                <a:ea typeface="Consolas"/>
              </a:rPr>
              <a:t>// 进入 COW 路径，不复制全部用户页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}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1" lang="zh-CN">
                <a:solidFill>
                  <a:srgbClr val="38E4FF"/>
                </a:solidFill>
                <a:latin typeface="Consolas"/>
                <a:ea typeface="Consolas"/>
              </a:rPr>
              <a:t>let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trap_cx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,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fd_table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,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cwd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,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root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,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signal_mask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,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actions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=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{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1" lang="zh-CN">
                <a:solidFill>
                  <a:srgbClr val="38E4FF"/>
                </a:solidFill>
                <a:latin typeface="Consolas"/>
                <a:ea typeface="Consolas"/>
              </a:rPr>
              <a:t>let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parent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=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self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inner_exclusive_access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parent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trap_cx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clone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,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parent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fd_table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iter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map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|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f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|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f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as_ref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map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|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x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|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{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x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dup_ref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;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x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clone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}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collect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,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parent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cwd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clone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,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parent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root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clone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,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}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5A6279"/>
                </a:solidFill>
                <a:latin typeface="Consolas"/>
                <a:ea typeface="Consolas"/>
              </a:rPr>
              <a:t>// 分配新 PID 与内核栈，构造子 TCB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81328"/>
            <a:ext cx="5394960" cy="310896"/>
          </a:xfrm>
          <a:prstGeom prst="rect">
            <a:avLst/>
          </a:prstGeom>
          <a:solidFill>
            <a:srgbClr val="060812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9944" y="1574596"/>
            <a:ext cx="124358" cy="124358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29400" y="1574596"/>
            <a:ext cx="124358" cy="124358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48856" y="1574596"/>
            <a:ext cx="124358" cy="124358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1495044"/>
            <a:ext cx="4206240" cy="283464"/>
          </a:xfrm>
          <a:prstGeom prst="rect">
            <a:avLst/>
          </a:prstGeom>
          <a:noFill/>
        </p:spPr>
        <p:txBody>
          <a:bodyPr wrap="square" anchor="ctr" lIns="0" rIns="0" tIns="0" bIns="0" kinsoku="1" overflowPunctuation="1">
            <a:spAutoFit/>
          </a:bodyPr>
          <a:lstStyle/>
          <a:p>
            <a:pPr algn="l"/>
            <a:r>
              <a:rPr sz="1100" b="1" lang="zh-CN">
                <a:solidFill>
                  <a:srgbClr val="9093A8"/>
                </a:solidFill>
                <a:latin typeface="微软雅黑"/>
                <a:ea typeface="微软雅黑"/>
              </a:rPr>
              <a:t>fork 的资源复制（COW 路径）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1495044"/>
            <a:ext cx="2560320" cy="283464"/>
          </a:xfrm>
          <a:prstGeom prst="rect">
            <a:avLst/>
          </a:prstGeom>
          <a:noFill/>
        </p:spPr>
        <p:txBody>
          <a:bodyPr wrap="square" anchor="ctr" lIns="0" rIns="0" tIns="0" bIns="0" kinsoku="1" overflowPunctuation="1">
            <a:spAutoFit/>
          </a:bodyPr>
          <a:lstStyle/>
          <a:p>
            <a:pPr algn="r"/>
            <a:r>
              <a:rPr sz="950" b="0" lang="zh-CN">
                <a:solidFill>
                  <a:srgbClr val="505364"/>
                </a:solidFill>
                <a:latin typeface="微软雅黑"/>
                <a:ea typeface="微软雅黑"/>
              </a:rPr>
              <a:t>task/task.rs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2600" b="1" lang="zh-CN">
                <a:solidFill>
                  <a:srgbClr val="F2F2FA"/>
                </a:solidFill>
                <a:latin typeface="微软雅黑"/>
                <a:ea typeface="微软雅黑"/>
              </a:rPr>
              <a:t>进程模型：fork 写时复制（COW）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4846320" cy="4846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为什么需要 COW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83664"/>
            <a:ext cx="4846320" cy="109728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fork 立即逐页复制代价随地址空间线性增长，子进程常立即 exec 或只读继承页；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父子先共享只读物理页，StorePageFault 时才复制并恢复写权限；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81528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3063240"/>
            <a:ext cx="10314432" cy="38404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页帧生命周期（RAII）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65576"/>
            <a:ext cx="4846320" cy="21031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FrameTracker 拥有物理页：shared_clone 引用 +1，Drop 递减，最后引用归还 buddy；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fork 后并发写回：先准备页帧、锁内复核、失败重试（不直接返回 EFAULT）；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共享地址空间改权限后对其他活跃 CPU 做远端 TLB 刷新，再回收旧帧；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47588" y="1517904"/>
            <a:ext cx="5852160" cy="4892040"/>
          </a:xfrm>
          <a:prstGeom prst="roundRect">
            <a:avLst>
              <a:gd name="adj" fmla="val 5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06440" y="1463040"/>
            <a:ext cx="5852160" cy="4892040"/>
          </a:xfrm>
          <a:prstGeom prst="roundRect">
            <a:avLst>
              <a:gd name="adj" fmla="val 5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25896" y="1828800"/>
            <a:ext cx="5413248" cy="394106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A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ork-COW 机制图@3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336" y="2459312"/>
            <a:ext cx="5230368" cy="268003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35040" y="6035039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ctr"/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fork 写时复制：先共享只读页，写缺页时复制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2600" b="1" lang="zh-CN">
                <a:solidFill>
                  <a:srgbClr val="F2F2FA"/>
                </a:solidFill>
                <a:latin typeface="微软雅黑"/>
                <a:ea typeface="微软雅黑"/>
              </a:rPr>
              <a:t>虚拟内存：隔离、装载与按需分配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设计：分离「地址区间语义」与「物理页分配」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83664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MemorySet 表示地址空间，MapArea 描述区间（权限/文件后备/COW），页表项描述当前映射；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缺页不再只是错误：文件映射首访装页、COW 写复制、MADV_DONTNEED 回收、非法访问报错，统一由缺页处理分发；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20440"/>
            <a:ext cx="10881360" cy="18288"/>
          </a:xfrm>
          <a:prstGeom prst="rect">
            <a:avLst/>
          </a:prstGeom>
          <a:solidFill>
            <a:srgbClr val="1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721607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3703320"/>
            <a:ext cx="10314432" cy="38404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面向复杂负载的按需装载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" y="4270248"/>
            <a:ext cx="2651760" cy="2011680"/>
          </a:xfrm>
          <a:prstGeom prst="roundRect">
            <a:avLst>
              <a:gd name="adj" fmla="val 7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4215384"/>
            <a:ext cx="2651760" cy="2011680"/>
          </a:xfrm>
          <a:prstGeom prst="roundRect">
            <a:avLst>
              <a:gd name="adj" fmla="val 7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kinsoku="1" overflowPunctuation="1"/>
          <a:lstStyle/>
          <a:p>
            <a:pPr algn="l">
              <a:lnSpc>
                <a:spcPct val="120000"/>
              </a:lnSpc>
            </a:pP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按需 ELF</a:t>
            </a:r>
          </a:p>
          <a:p>
            <a:pPr algn="l">
              <a:lnSpc>
                <a:spcPct val="120000"/>
              </a:lnSpc>
            </a:pP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execve 只读 ELF 头/程序头，为 PT_LOAD 建惰性 VMA；代码/数据页首次访问才装入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0148" y="4270248"/>
            <a:ext cx="2651760" cy="2011680"/>
          </a:xfrm>
          <a:prstGeom prst="roundRect">
            <a:avLst>
              <a:gd name="adj" fmla="val 7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29000" y="4215384"/>
            <a:ext cx="2651760" cy="2011680"/>
          </a:xfrm>
          <a:prstGeom prst="roundRect">
            <a:avLst>
              <a:gd name="adj" fmla="val 7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kinsoku="1" overflowPunctuation="1"/>
          <a:lstStyle/>
          <a:p>
            <a:pPr algn="l">
              <a:lnSpc>
                <a:spcPct val="120000"/>
              </a:lnSpc>
            </a:pP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文件页缓存</a:t>
            </a:r>
          </a:p>
          <a:p>
            <a:pPr algn="l">
              <a:lnSpc>
                <a:spcPct val="120000"/>
              </a:lnSpc>
            </a:pP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只读/可执行页按 (superblock, inode) 共享；MAP_PRIVATE 可写页保持私有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9068" y="4270248"/>
            <a:ext cx="2651760" cy="2011680"/>
          </a:xfrm>
          <a:prstGeom prst="roundRect">
            <a:avLst>
              <a:gd name="adj" fmla="val 7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4215384"/>
            <a:ext cx="2651760" cy="2011680"/>
          </a:xfrm>
          <a:prstGeom prst="roundRect">
            <a:avLst>
              <a:gd name="adj" fmla="val 7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kinsoku="1" overflowPunctuation="1"/>
          <a:lstStyle/>
          <a:p>
            <a:pPr algn="l">
              <a:lnSpc>
                <a:spcPct val="120000"/>
              </a:lnSpc>
            </a:pP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用户栈</a:t>
            </a:r>
          </a:p>
          <a:p>
            <a:pPr algn="l">
              <a:lnSpc>
                <a:spcPct val="120000"/>
              </a:lnSpc>
            </a:pP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8 MiB 上限，只预分配顶部页，向下按匿名写缺页扩展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47987" y="4270248"/>
            <a:ext cx="2651760" cy="2011680"/>
          </a:xfrm>
          <a:prstGeom prst="roundRect">
            <a:avLst>
              <a:gd name="adj" fmla="val 7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06839" y="4215384"/>
            <a:ext cx="2651760" cy="2011680"/>
          </a:xfrm>
          <a:prstGeom prst="roundRect">
            <a:avLst>
              <a:gd name="adj" fmla="val 7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kinsoku="1" overflowPunctuation="1"/>
          <a:lstStyle/>
          <a:p>
            <a:pPr algn="l">
              <a:lnSpc>
                <a:spcPct val="120000"/>
              </a:lnSpc>
            </a:pP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物理页帧</a:t>
            </a:r>
          </a:p>
          <a:p>
            <a:pPr algn="l">
              <a:lnSpc>
                <a:spcPct val="120000"/>
              </a:lnSpc>
            </a:pP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分片 buddy + 每 CPU magazine（64 页）；内核堆 64 MiB 启动堆 + 动态扩展（8 GiB 配置约 1 GiB）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2600" b="1" lang="zh-CN">
                <a:solidFill>
                  <a:srgbClr val="F2F2FA"/>
                </a:solidFill>
                <a:latin typeface="微软雅黑"/>
                <a:ea typeface="微软雅黑"/>
              </a:rPr>
              <a:t>网络模块：统一 Socket fd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4846320" cy="4846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84248"/>
            <a:ext cx="4846320" cy="429768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smoltcp + VirtIO-Net，端点封装为 SocketFile（实现 File trait）；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外部路径与本地环回路径分离：本地 TCP/UDP 在内核内转发，不依赖外部设备；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net_poll 在 NET_IFACE 锁内推进协议栈，锁外评估等待者并唤醒；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阻塞登记 TcpConnect/Accept/Send/Recv、UdpRecv，复用统一唤醒状态机；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Unix socketpair（AF_UNIX STREAM / SEQPACKET）不依赖 smoltcp；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关闭最后 fd 引用时撤销监听项并移除 smoltcp socket；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47588" y="1517904"/>
            <a:ext cx="5852160" cy="4892040"/>
          </a:xfrm>
          <a:prstGeom prst="roundRect">
            <a:avLst>
              <a:gd name="adj" fmla="val 5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06440" y="1463040"/>
            <a:ext cx="5852160" cy="4892040"/>
          </a:xfrm>
          <a:prstGeom prst="roundRect">
            <a:avLst>
              <a:gd name="adj" fmla="val 5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25896" y="1828800"/>
            <a:ext cx="5413248" cy="394106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A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网络数据路径图@3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174" y="1920240"/>
            <a:ext cx="2912691" cy="375818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35040" y="6035039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ctr"/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网络数据路径：VirtIO-Net + smoltcp + 本地环回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2600" b="1" lang="zh-CN">
                <a:solidFill>
                  <a:srgbClr val="F2F2FA"/>
                </a:solidFill>
                <a:latin typeface="微软雅黑"/>
                <a:ea typeface="微软雅黑"/>
              </a:rPr>
              <a:t>信号与事件 I/O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349240" cy="4846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信号机制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83664"/>
            <a:ext cx="5349240" cy="18288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待处理位图 + PendingSignalInfo（发送者/uid），标准信号合并；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陷阱返回用户态前递送；用户处理函数 + 信号帧（siginfo/ucontext）+ rt_sigreturn trampoline；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kill/tgkill 目标存活性校验；SIGKILL/SIGSTOP 不受屏蔽；阻塞任务经统一唤醒状态机；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13048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3794760"/>
            <a:ext cx="10314432" cy="38404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事件 I/O（统一 fd 命名空间）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97096"/>
            <a:ext cx="5349240" cy="18288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eventfd、epoll、pipe、Unix socketpair 与 TCP/UDP 统一进 fd 表；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ppoll / pselect6 / epoll_pwait 共用 File::poll 就绪性接口；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futex：按地址/共享物理页形成等待键，wait/wake/requeue/timeout；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4788" y="1536192"/>
            <a:ext cx="5349240" cy="4892040"/>
          </a:xfrm>
          <a:prstGeom prst="roundRect">
            <a:avLst>
              <a:gd name="adj" fmla="val 5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481328"/>
            <a:ext cx="5349240" cy="4892040"/>
          </a:xfrm>
          <a:prstGeom prst="roundRect">
            <a:avLst>
              <a:gd name="adj" fmla="val 5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1545336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信号递送时机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048256"/>
            <a:ext cx="4754880" cy="420624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内核已持有当前 TrapFrame，可在用户态恢复前安全改写 PC、参数与用户栈；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遍历待处理信号，选择未被屏蔽的项；有处理函数则保存现场、改 PC 并配置返回跳板；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默认动作：终止 / 停止 / 继续 / 忽略；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缺页、非法指令等异常经同一集合提交 SIGSEGV / SIGILL；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管道与 socket 写无读端时投递 SIGPIPE；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2600" b="1" lang="zh-CN">
                <a:solidFill>
                  <a:srgbClr val="F2F2FA"/>
                </a:solidFill>
                <a:latin typeface="微软雅黑"/>
                <a:ea typeface="微软雅黑"/>
              </a:rPr>
              <a:t>系统调用接口：ABI 解码 + 模块转发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lang="zh-CN">
                <a:solidFill>
                  <a:srgbClr val="F2F2FA"/>
                </a:solidFill>
                <a:latin typeface="微软雅黑"/>
                <a:ea typeface="微软雅黑"/>
              </a:rPr>
              <a:t>Linux RISC-V ABI：a7 调用号 + a0–a5 参数；成功返回非负值，失败返回负 errno，未实现返回 -ENOSYS。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薄分发层只做参数转换、用户指针校验与模块转发（syscall/fs.rs、process.rs、net/syscall.rs）；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约 120+ 系统调用，覆盖进程 / 文件 / 内存 / 信号 / 网络 / 时间 / 凭证 / IPC；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82696"/>
            <a:ext cx="5852160" cy="3339846"/>
          </a:xfrm>
          <a:prstGeom prst="rect">
            <a:avLst/>
          </a:prstGeom>
          <a:solidFill>
            <a:srgbClr val="15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73152" tIns="91440" kinsoku="1" overflowPunctuation="1"/>
          <a:lstStyle/>
          <a:p>
            <a:pPr algn="ctr">
              <a:lnSpc>
                <a:spcPct val="103000"/>
              </a:lnSpc>
              <a:spcAft>
                <a:spcPts val="100"/>
              </a:spcAft>
            </a:pPr>
            <a:r>
              <a:rPr sz="1150" b="1" lang="zh-CN">
                <a:solidFill>
                  <a:srgbClr val="38E4FF"/>
                </a:solidFill>
                <a:latin typeface="Consolas"/>
                <a:ea typeface="Consolas"/>
              </a:rPr>
              <a:t>let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ret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=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1" lang="zh-CN">
                <a:solidFill>
                  <a:srgbClr val="38E4FF"/>
                </a:solidFill>
                <a:latin typeface="Consolas"/>
                <a:ea typeface="Consolas"/>
              </a:rPr>
              <a:t>match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syscall_id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{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FF9E4F"/>
                </a:solidFill>
                <a:latin typeface="Consolas"/>
                <a:ea typeface="Consolas"/>
              </a:rPr>
              <a:t>SYSCALL_OPENAT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=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&gt;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sys_openat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args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[</a:t>
            </a:r>
            <a:r>
              <a:rPr sz="1150" b="0" lang="zh-CN">
                <a:solidFill>
                  <a:srgbClr val="B07CFF"/>
                </a:solidFill>
                <a:latin typeface="Consolas"/>
                <a:ea typeface="Consolas"/>
              </a:rPr>
              <a:t>0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]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1" lang="zh-CN">
                <a:solidFill>
                  <a:srgbClr val="38E4FF"/>
                </a:solidFill>
                <a:latin typeface="Consolas"/>
                <a:ea typeface="Consolas"/>
              </a:rPr>
              <a:t>as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isize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,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args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[</a:t>
            </a:r>
            <a:r>
              <a:rPr sz="1150" b="0" lang="zh-CN">
                <a:solidFill>
                  <a:srgbClr val="B07CFF"/>
                </a:solidFill>
                <a:latin typeface="Consolas"/>
                <a:ea typeface="Consolas"/>
              </a:rPr>
              <a:t>1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]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1" lang="zh-CN">
                <a:solidFill>
                  <a:srgbClr val="38E4FF"/>
                </a:solidFill>
                <a:latin typeface="Consolas"/>
                <a:ea typeface="Consolas"/>
              </a:rPr>
              <a:t>as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*</a:t>
            </a:r>
            <a:r>
              <a:rPr sz="1150" b="1" lang="zh-CN">
                <a:solidFill>
                  <a:srgbClr val="38E4FF"/>
                </a:solidFill>
                <a:latin typeface="Consolas"/>
                <a:ea typeface="Consolas"/>
              </a:rPr>
              <a:t>const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u8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,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args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[</a:t>
            </a:r>
            <a:r>
              <a:rPr sz="1150" b="0" lang="zh-CN">
                <a:solidFill>
                  <a:srgbClr val="B07CFF"/>
                </a:solidFill>
                <a:latin typeface="Consolas"/>
                <a:ea typeface="Consolas"/>
              </a:rPr>
              <a:t>2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]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,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args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[</a:t>
            </a:r>
            <a:r>
              <a:rPr sz="1150" b="0" lang="zh-CN">
                <a:solidFill>
                  <a:srgbClr val="B07CFF"/>
                </a:solidFill>
                <a:latin typeface="Consolas"/>
                <a:ea typeface="Consolas"/>
              </a:rPr>
              <a:t>3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]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,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FF9E4F"/>
                </a:solidFill>
                <a:latin typeface="Consolas"/>
                <a:ea typeface="Consolas"/>
              </a:rPr>
              <a:t>SYSCALL_READ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=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&gt;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sys_read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args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[</a:t>
            </a:r>
            <a:r>
              <a:rPr sz="1150" b="0" lang="zh-CN">
                <a:solidFill>
                  <a:srgbClr val="B07CFF"/>
                </a:solidFill>
                <a:latin typeface="Consolas"/>
                <a:ea typeface="Consolas"/>
              </a:rPr>
              <a:t>0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]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,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args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[</a:t>
            </a:r>
            <a:r>
              <a:rPr sz="1150" b="0" lang="zh-CN">
                <a:solidFill>
                  <a:srgbClr val="B07CFF"/>
                </a:solidFill>
                <a:latin typeface="Consolas"/>
                <a:ea typeface="Consolas"/>
              </a:rPr>
              <a:t>1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]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1" lang="zh-CN">
                <a:solidFill>
                  <a:srgbClr val="38E4FF"/>
                </a:solidFill>
                <a:latin typeface="Consolas"/>
                <a:ea typeface="Consolas"/>
              </a:rPr>
              <a:t>as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*</a:t>
            </a:r>
            <a:r>
              <a:rPr sz="1150" b="1" lang="zh-CN">
                <a:solidFill>
                  <a:srgbClr val="38E4FF"/>
                </a:solidFill>
                <a:latin typeface="Consolas"/>
                <a:ea typeface="Consolas"/>
              </a:rPr>
              <a:t>mut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u8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,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args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[</a:t>
            </a:r>
            <a:r>
              <a:rPr sz="1150" b="0" lang="zh-CN">
                <a:solidFill>
                  <a:srgbClr val="B07CFF"/>
                </a:solidFill>
                <a:latin typeface="Consolas"/>
                <a:ea typeface="Consolas"/>
              </a:rPr>
              <a:t>2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]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,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FF9E4F"/>
                </a:solidFill>
                <a:latin typeface="Consolas"/>
                <a:ea typeface="Consolas"/>
              </a:rPr>
              <a:t>SYSCALL_WRITE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=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&gt;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sys_write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args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[</a:t>
            </a:r>
            <a:r>
              <a:rPr sz="1150" b="0" lang="zh-CN">
                <a:solidFill>
                  <a:srgbClr val="B07CFF"/>
                </a:solidFill>
                <a:latin typeface="Consolas"/>
                <a:ea typeface="Consolas"/>
              </a:rPr>
              <a:t>0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]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,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args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[</a:t>
            </a:r>
            <a:r>
              <a:rPr sz="1150" b="0" lang="zh-CN">
                <a:solidFill>
                  <a:srgbClr val="B07CFF"/>
                </a:solidFill>
                <a:latin typeface="Consolas"/>
                <a:ea typeface="Consolas"/>
              </a:rPr>
              <a:t>1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]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1" lang="zh-CN">
                <a:solidFill>
                  <a:srgbClr val="38E4FF"/>
                </a:solidFill>
                <a:latin typeface="Consolas"/>
                <a:ea typeface="Consolas"/>
              </a:rPr>
              <a:t>as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*</a:t>
            </a:r>
            <a:r>
              <a:rPr sz="1150" b="1" lang="zh-CN">
                <a:solidFill>
                  <a:srgbClr val="38E4FF"/>
                </a:solidFill>
                <a:latin typeface="Consolas"/>
                <a:ea typeface="Consolas"/>
              </a:rPr>
              <a:t>mut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u8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,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args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[</a:t>
            </a:r>
            <a:r>
              <a:rPr sz="1150" b="0" lang="zh-CN">
                <a:solidFill>
                  <a:srgbClr val="B07CFF"/>
                </a:solidFill>
                <a:latin typeface="Consolas"/>
                <a:ea typeface="Consolas"/>
              </a:rPr>
              <a:t>2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]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,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FF9E4F"/>
                </a:solidFill>
                <a:latin typeface="Consolas"/>
                <a:ea typeface="Consolas"/>
              </a:rPr>
              <a:t>SYSCALL_FORK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=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&gt;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sys_fork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,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FF9E4F"/>
                </a:solidFill>
                <a:latin typeface="Consolas"/>
                <a:ea typeface="Consolas"/>
              </a:rPr>
              <a:t>SYSCALL_MMAP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=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&gt;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sys_mmap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,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FF9E4F"/>
                </a:solidFill>
                <a:latin typeface="Consolas"/>
                <a:ea typeface="Consolas"/>
              </a:rPr>
              <a:t>SYSCALL_SOCKET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=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&gt;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sys_socket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,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FF9E4F"/>
                </a:solidFill>
                <a:latin typeface="Consolas"/>
                <a:ea typeface="Consolas"/>
              </a:rPr>
              <a:t>SYSCALL_MOUNT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=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&gt;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sys_mount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,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FF9E4F"/>
                </a:solidFill>
                <a:latin typeface="Consolas"/>
                <a:ea typeface="Consolas"/>
              </a:rPr>
              <a:t>SYSCALL_KILL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=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&gt;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sys_kill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,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_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=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&gt;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-</a:t>
            </a:r>
            <a:r>
              <a:rPr sz="1150" b="0" lang="zh-CN">
                <a:solidFill>
                  <a:srgbClr val="B07CFF"/>
                </a:solidFill>
                <a:latin typeface="Consolas"/>
                <a:ea typeface="Consolas"/>
              </a:rPr>
              <a:t>38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,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50" b="0" lang="zh-CN">
                <a:solidFill>
                  <a:srgbClr val="5A6279"/>
                </a:solidFill>
                <a:latin typeface="Consolas"/>
                <a:ea typeface="Consolas"/>
              </a:rPr>
              <a:t>// ENOSYS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}</a:t>
            </a:r>
            <a:r>
              <a:rPr sz="1150" b="0" lang="zh-CN">
                <a:solidFill>
                  <a:srgbClr val="D8E3F2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50" b="0" lang="zh-CN">
                <a:solidFill>
                  <a:srgbClr val="5A6279"/>
                </a:solidFill>
                <a:latin typeface="Consolas"/>
                <a:ea typeface="Consolas"/>
              </a:rPr>
              <a:t>// os/src/syscall/mod.rs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5852160" cy="310896"/>
          </a:xfrm>
          <a:prstGeom prst="rect">
            <a:avLst/>
          </a:prstGeom>
          <a:solidFill>
            <a:srgbClr val="060812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" y="3065068"/>
            <a:ext cx="124358" cy="124358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3065068"/>
            <a:ext cx="124358" cy="124358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225295" y="3065068"/>
            <a:ext cx="124358" cy="124358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2985516"/>
            <a:ext cx="4663440" cy="283464"/>
          </a:xfrm>
          <a:prstGeom prst="rect">
            <a:avLst/>
          </a:prstGeom>
          <a:noFill/>
        </p:spPr>
        <p:txBody>
          <a:bodyPr wrap="square" anchor="ctr" lIns="0" rIns="0" tIns="0" bIns="0" kinsoku="1" overflowPunctuation="1">
            <a:spAutoFit/>
          </a:bodyPr>
          <a:lstStyle/>
          <a:p>
            <a:pPr algn="l"/>
            <a:r>
              <a:rPr sz="1100" b="1" lang="zh-CN">
                <a:solidFill>
                  <a:srgbClr val="9093A8"/>
                </a:solidFill>
                <a:latin typeface="微软雅黑"/>
                <a:ea typeface="微软雅黑"/>
              </a:rPr>
              <a:t>系统调用分发（摘录）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2985516"/>
            <a:ext cx="2560320" cy="283464"/>
          </a:xfrm>
          <a:prstGeom prst="rect">
            <a:avLst/>
          </a:prstGeom>
          <a:noFill/>
        </p:spPr>
        <p:txBody>
          <a:bodyPr wrap="square" anchor="ctr" lIns="0" rIns="0" tIns="0" bIns="0" kinsoku="1" overflowPunctuation="1">
            <a:spAutoFit/>
          </a:bodyPr>
          <a:lstStyle/>
          <a:p>
            <a:pPr algn="r"/>
            <a:r>
              <a:rPr sz="950" b="0" lang="zh-CN">
                <a:solidFill>
                  <a:srgbClr val="505364"/>
                </a:solidFill>
                <a:latin typeface="微软雅黑"/>
                <a:ea typeface="微软雅黑"/>
              </a:rPr>
              <a:t>syscall/mod.rs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07708" y="3346704"/>
            <a:ext cx="4846320" cy="3063240"/>
          </a:xfrm>
          <a:prstGeom prst="roundRect">
            <a:avLst>
              <a:gd name="adj" fmla="val 5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0" y="3291840"/>
            <a:ext cx="4846320" cy="3063240"/>
          </a:xfrm>
          <a:prstGeom prst="roundRect">
            <a:avLst>
              <a:gd name="adj" fmla="val 5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335584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系统调用类别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904488"/>
            <a:ext cx="4343400" cy="2560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>
              <a:spcAft>
                <a:spcPts val="600"/>
              </a:spcAft>
            </a:pPr>
            <a:r>
              <a:rPr sz="1300" b="1" lang="zh-CN">
                <a:solidFill>
                  <a:srgbClr val="38E4FF"/>
                </a:solidFill>
                <a:latin typeface="微软雅黑"/>
                <a:ea typeface="微软雅黑"/>
              </a:rPr>
              <a:t>▪ 进程：</a:t>
            </a: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fork / clone / exec / waitpid / exit / nanosleep</a:t>
            </a:r>
          </a:p>
          <a:p>
            <a:pPr>
              <a:spcAft>
                <a:spcPts val="600"/>
              </a:spcAft>
            </a:pPr>
            <a:r>
              <a:rPr sz="1300" b="1" lang="zh-CN">
                <a:solidFill>
                  <a:srgbClr val="36F9A8"/>
                </a:solidFill>
                <a:latin typeface="微软雅黑"/>
                <a:ea typeface="微软雅黑"/>
              </a:rPr>
              <a:t>▪ 文件系统：</a:t>
            </a: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openat / read / write / getdents64 / mount / fsync</a:t>
            </a:r>
          </a:p>
          <a:p>
            <a:pPr>
              <a:spcAft>
                <a:spcPts val="600"/>
              </a:spcAft>
            </a:pPr>
            <a:r>
              <a:rPr sz="1300" b="1" lang="zh-CN">
                <a:solidFill>
                  <a:srgbClr val="B07CFF"/>
                </a:solidFill>
                <a:latin typeface="微软雅黑"/>
                <a:ea typeface="微软雅黑"/>
              </a:rPr>
              <a:t>▪ 内存：</a:t>
            </a: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mmap / munmap / mprotect / msync / mremap</a:t>
            </a:r>
          </a:p>
          <a:p>
            <a:pPr>
              <a:spcAft>
                <a:spcPts val="600"/>
              </a:spcAft>
            </a:pPr>
            <a:r>
              <a:rPr sz="1300" b="1" lang="zh-CN">
                <a:solidFill>
                  <a:srgbClr val="FF9E4F"/>
                </a:solidFill>
                <a:latin typeface="微软雅黑"/>
                <a:ea typeface="微软雅黑"/>
              </a:rPr>
              <a:t>▪ 信号：</a:t>
            </a: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kill / sigaction / sigprocmask / sigreturn</a:t>
            </a:r>
          </a:p>
          <a:p>
            <a:pPr>
              <a:spcAft>
                <a:spcPts val="600"/>
              </a:spcAft>
            </a:pPr>
            <a:r>
              <a:rPr sz="1300" b="1" lang="zh-CN">
                <a:solidFill>
                  <a:srgbClr val="38E4FF"/>
                </a:solidFill>
                <a:latin typeface="微软雅黑"/>
                <a:ea typeface="微软雅黑"/>
              </a:rPr>
              <a:t>▪ 网络：</a:t>
            </a: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socket / bind / listen / accept / sendmsg / recvmsg</a:t>
            </a:r>
          </a:p>
          <a:p>
            <a:pPr>
              <a:spcAft>
                <a:spcPts val="600"/>
              </a:spcAft>
            </a:pPr>
            <a:r>
              <a:rPr sz="1300" b="1" lang="zh-CN">
                <a:solidFill>
                  <a:srgbClr val="36F9A8"/>
                </a:solidFill>
                <a:latin typeface="微软雅黑"/>
                <a:ea typeface="微软雅黑"/>
              </a:rPr>
              <a:t>▪ 事件：</a:t>
            </a: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eventfd2 / epoll_ctl / epoll_pwait / socketpair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6803136"/>
            <a:ext cx="12100255" cy="54864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548640" y="914400"/>
            <a:ext cx="4572000" cy="36576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6000" b="1" lang="zh-CN">
                <a:solidFill>
                  <a:srgbClr val="2E5078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4200" b="1" lang="zh-CN">
                <a:solidFill>
                  <a:srgbClr val="F2F2FA"/>
                </a:solidFill>
                <a:latin typeface="微软雅黑"/>
                <a:ea typeface="微软雅黑"/>
              </a:rPr>
              <a:t>决赛负载适配</a:t>
            </a:r>
          </a:p>
          <a:p>
            <a:pPr algn="l">
              <a:spcBef>
                <a:spcPts val="600"/>
              </a:spcBef>
            </a:pPr>
            <a:r>
              <a:rPr sz="1300" b="0" lang="zh-CN">
                <a:solidFill>
                  <a:srgbClr val="9093A8"/>
                </a:solidFill>
                <a:latin typeface="微软雅黑"/>
                <a:ea typeface="微软雅黑"/>
              </a:rPr>
              <a:t>Final-Workload Adaptation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00" b="0" lang="zh-CN">
                <a:solidFill>
                  <a:srgbClr val="9093A8"/>
                </a:solidFill>
                <a:latin typeface="微软雅黑"/>
                <a:ea typeface="微软雅黑"/>
              </a:rPr>
              <a:t>题1 CAgent（200 分）· 题2 BuildStorm 复杂软件构建（200 分）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3736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0312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6888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2600" b="1" lang="zh-CN">
                <a:solidFill>
                  <a:srgbClr val="F2F2FA"/>
                </a:solidFill>
                <a:latin typeface="微软雅黑"/>
                <a:ea typeface="微软雅黑"/>
              </a:rPr>
              <a:t>决赛赛制与两题概览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lang="zh-CN">
                <a:solidFill>
                  <a:srgbClr val="F2F2FA"/>
                </a:solidFill>
                <a:latin typeface="微软雅黑"/>
                <a:ea typeface="微软雅黑"/>
              </a:rPr>
              <a:t>决赛两题各 200 分、各占 50%，折算后满分 100 分；RISC-V64 与 LoongArch64 双平台规则一致，仅测试 glibc 环境。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" y="2130552"/>
            <a:ext cx="5394960" cy="3520440"/>
          </a:xfrm>
          <a:prstGeom prst="roundRect">
            <a:avLst>
              <a:gd name="adj" fmla="val 8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075688"/>
            <a:ext cx="5394960" cy="3520440"/>
          </a:xfrm>
          <a:prstGeom prst="roundRect">
            <a:avLst>
              <a:gd name="adj" fmla="val 8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600" b="1" lang="zh-CN">
                <a:solidFill>
                  <a:srgbClr val="38E4FF"/>
                </a:solidFill>
                <a:latin typeface="微软雅黑"/>
                <a:ea typeface="微软雅黑"/>
              </a:rPr>
              <a:t>题1  CAgent · 200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61488"/>
            <a:ext cx="4846320" cy="2743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10 项测试：Easy 4（factorial / date / cpu / kernel）+ Medium 5（network / fs-create / fs-readwrite / fs-directory / fs-usage）+ Hard 1（fs-search）；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基础分 181 + 时间奖励：执行时间 &lt; 超时×50% 时额外获得基础分 10%；单项失败得 0 分；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满分构成：Easy 59.4 / Medium 110 / Hard 30.6；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示例：factorial 耗时 8.5s（&lt; 10s）→ 13.5 + 1.35 = 14.85 分；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9068" y="2130552"/>
            <a:ext cx="4937760" cy="3520440"/>
          </a:xfrm>
          <a:prstGeom prst="roundRect">
            <a:avLst>
              <a:gd name="adj" fmla="val 8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2075688"/>
            <a:ext cx="4937760" cy="3520440"/>
          </a:xfrm>
          <a:prstGeom prst="roundRect">
            <a:avLst>
              <a:gd name="adj" fmla="val 8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24028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600" b="1" lang="zh-CN">
                <a:solidFill>
                  <a:srgbClr val="36F9A8"/>
                </a:solidFill>
                <a:latin typeface="微软雅黑"/>
                <a:ea typeface="微软雅黑"/>
              </a:rPr>
              <a:t>题2  BuildStorm · 200 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761488"/>
            <a:ext cx="4480560" cy="2743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2.1 工具链环境 20 分：rustc/cargo 加载 8 分 + 最小工程构建 12 分；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2.2 编译 arceos-helloworld 160 分：成功 40（产物 ≥ 500 KiB）+ 加速 120（对标 Linux 基线 B）；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2.3 设计优化文档 20 分：问题定位 6 / 设计实现 6 / 实验分析 4 / AI 说明与可复现 4；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77900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lang="zh-CN">
                <a:solidFill>
                  <a:srgbClr val="9093A8"/>
                </a:solidFill>
                <a:latin typeface="微软雅黑"/>
                <a:ea typeface="微软雅黑"/>
              </a:rPr>
              <a:t>加速分 = 120 × clamp((2B − t) / B, 0, 1)；2.2 要求 -smp 8 -m 8G，编译耗时以 guest 内 /proc/uptime 为准（篡改计时视为作弊）。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2600" b="1" lang="zh-CN">
                <a:solidFill>
                  <a:srgbClr val="F2F2FA"/>
                </a:solidFill>
                <a:latin typeface="微软雅黑"/>
                <a:ea typeface="微软雅黑"/>
              </a:rPr>
              <a:t>题1 CAgent：双架构运行官方 glibc 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4846320" cy="4846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适配工作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84248"/>
            <a:ext cx="4846320" cy="420624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RISC-V 四核 + 双盘：vda 测试盘挂载 /mnt 后 chroot 进入 Debian glibc，原样运行官方 cagent_testcode.sh；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VFS 路径解析跟随中间符号链接（/bin → usr/bin），修复 chroot bash 启动；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LoongArch 补齐：QEMU 8.2 FDT 内存编码、LSX 寄存器保存/恢复、rt_sigreturn 用户跳板、glibc 启动 ABI；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终端判定按 fd 实际对象：pipe 上 TCGETS / TIOCGWINSZ 返回 ENOTTY；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network 项依赖本地 TCP 环回路径，与外部网卡解耦；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47588" y="1536192"/>
            <a:ext cx="5760720" cy="4892040"/>
          </a:xfrm>
          <a:prstGeom prst="roundRect">
            <a:avLst>
              <a:gd name="adj" fmla="val 5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06440" y="1481328"/>
            <a:ext cx="5760720" cy="4892040"/>
          </a:xfrm>
          <a:prstGeom prst="roundRect">
            <a:avLst>
              <a:gd name="adj" fmla="val 5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59" y="1545336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实测结果（官方镜像 + 官方 judge）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7628" y="2148840"/>
            <a:ext cx="5120640" cy="1188720"/>
          </a:xfrm>
          <a:prstGeom prst="roundRect">
            <a:avLst>
              <a:gd name="adj" fmla="val 10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80" y="2093976"/>
            <a:ext cx="5120640" cy="1188720"/>
          </a:xfrm>
          <a:prstGeom prst="roundRect">
            <a:avLst>
              <a:gd name="adj" fmla="val 10000"/>
            </a:avLst>
          </a:prstGeom>
          <a:solidFill>
            <a:srgbClr val="1B2138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kinsoku="1" overflowPunctuation="1"/>
          <a:lstStyle/>
          <a:p>
            <a:pPr algn="l">
              <a:lnSpc>
                <a:spcPct val="125000"/>
              </a:lnSpc>
            </a:pP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LoongArch  CAgent 10/10 通过</a:t>
            </a:r>
          </a:p>
          <a:p>
            <a:pPr algn="l">
              <a:lnSpc>
                <a:spcPct val="125000"/>
              </a:lnSpc>
            </a:pP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基础分 181.00 / 200（2026-07-29 实测）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7628" y="3520440"/>
            <a:ext cx="5120640" cy="1188720"/>
          </a:xfrm>
          <a:prstGeom prst="roundRect">
            <a:avLst>
              <a:gd name="adj" fmla="val 10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26480" y="3465576"/>
            <a:ext cx="5120640" cy="1188720"/>
          </a:xfrm>
          <a:prstGeom prst="roundRect">
            <a:avLst>
              <a:gd name="adj" fmla="val 10000"/>
            </a:avLst>
          </a:prstGeom>
          <a:solidFill>
            <a:srgbClr val="1B2138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kinsoku="1" overflowPunctuation="1"/>
          <a:lstStyle/>
          <a:p>
            <a:pPr algn="l">
              <a:lnSpc>
                <a:spcPct val="125000"/>
              </a:lnSpc>
            </a:pP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RISC-V  CAgent 9/10 通过</a:t>
            </a:r>
          </a:p>
          <a:p>
            <a:pPr algn="l">
              <a:lnSpc>
                <a:spcPct val="125000"/>
              </a:lnSpc>
            </a:pP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177.10 / 200，fs-directory 曾 reject 已修复（待最终复测）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882896"/>
            <a:ext cx="5120640" cy="173736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双架构均完整跑通官方脚本（START/END 标记 + 10 条 testcase 记录），可通过 judge 逐项评分；时间奖励项（耗时 &lt; 超时×50%）已计入相应得分。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2600" b="1" lang="zh-CN">
                <a:solidFill>
                  <a:srgbClr val="F2F2FA"/>
                </a:solidFill>
                <a:latin typeface="微软雅黑"/>
                <a:ea typeface="微软雅黑"/>
              </a:rPr>
              <a:t>题2 BuildStorm：从工具链到复杂软件构建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4937760" cy="4846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2.1 工具链环境（20 分）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83664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rustc / cargo --version 正常输出（动态链接 + 基础 syscall）8 分；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cargo new + cargo build + 运行产物输出 Hello, world! 12 分；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07208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2788920"/>
            <a:ext cx="10314432" cy="38404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2.2 复杂编译（160 分）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91256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成功门槛 40 分：cargo xtask arceos build 返回 0 且产物 ≥ 500 KiB；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加速 120 分：120 × clamp((2B − t) / B, 0, 1)，对标 Linux 基线 B；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53127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7" y="4434840"/>
            <a:ext cx="10314432" cy="38404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2.3 设计优化文档（20 分）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37176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问题定位 6 · 设计与实现 6 · 实验分析 4 · AI 说明与可复现 4。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1228" y="5541264"/>
            <a:ext cx="4937760" cy="914400"/>
          </a:xfrm>
          <a:prstGeom prst="roundRect">
            <a:avLst>
              <a:gd name="adj" fmla="val 10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5486400"/>
            <a:ext cx="4937760" cy="914400"/>
          </a:xfrm>
          <a:prstGeom prst="roundRect">
            <a:avLst>
              <a:gd name="adj" fmla="val 10000"/>
            </a:avLst>
          </a:prstGeom>
          <a:solidFill>
            <a:srgbClr val="1B2138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596128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lang="zh-CN">
                <a:solidFill>
                  <a:srgbClr val="36F9A8"/>
                </a:solidFill>
                <a:latin typeface="微软雅黑"/>
                <a:ea typeface="微软雅黑"/>
              </a:rPr>
              <a:t>实测：2.1 双架构全过（TOOLCHAIN / MINIBUILD ok）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50" b="1" lang="zh-CN">
                <a:solidFill>
                  <a:srgbClr val="36F9A8"/>
                </a:solidFill>
                <a:latin typeface="微软雅黑"/>
                <a:ea typeface="微软雅黑"/>
              </a:rPr>
              <a:t>2.2 编译成功并获部分加速分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47588" y="1536192"/>
            <a:ext cx="5760720" cy="4892040"/>
          </a:xfrm>
          <a:prstGeom prst="roundRect">
            <a:avLst>
              <a:gd name="adj" fmla="val 5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06440" y="1481328"/>
            <a:ext cx="5760720" cy="4892040"/>
          </a:xfrm>
          <a:prstGeom prst="roundRect">
            <a:avLst>
              <a:gd name="adj" fmla="val 5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59" y="1545336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关键优化（按设计文档分类）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048256"/>
            <a:ext cx="5120640" cy="448056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>
              <a:spcAft>
                <a:spcPts val="900"/>
              </a:spcAft>
            </a:pPr>
            <a:r>
              <a:rPr sz="1300" b="1" lang="zh-CN">
                <a:solidFill>
                  <a:srgbClr val="38E4FF"/>
                </a:solidFill>
                <a:latin typeface="微软雅黑"/>
                <a:ea typeface="微软雅黑"/>
              </a:rPr>
              <a:t>▪ SMP 调度与线程组：</a:t>
            </a:r>
            <a:r>
              <a:rPr sz="1250" b="0" lang="zh-CN">
                <a:solidFill>
                  <a:srgbClr val="F2F2FA"/>
                </a:solidFill>
                <a:latin typeface="微软雅黑"/>
                <a:ea typeface="微软雅黑"/>
              </a:rPr>
              <a:t>每 CPU 队列唯一运行所有权；CLONE_FILES 共享 fd 组 + FD_CLOEXEC；线程组 exec 收敛与范围 waitpid；futex 按 VMA 建 key（修 clear_child_tid 丢唤醒）；</a:t>
            </a:r>
          </a:p>
          <a:p>
            <a:pPr>
              <a:spcAft>
                <a:spcPts val="900"/>
              </a:spcAft>
            </a:pPr>
            <a:r>
              <a:rPr sz="1300" b="1" lang="zh-CN">
                <a:solidFill>
                  <a:srgbClr val="36F9A8"/>
                </a:solidFill>
                <a:latin typeface="微软雅黑"/>
                <a:ea typeface="微软雅黑"/>
              </a:rPr>
              <a:t>▪ 内存与页缓存：</a:t>
            </a:r>
            <a:r>
              <a:rPr sz="1250" b="0" lang="zh-CN">
                <a:solidFill>
                  <a:srgbClr val="F2F2FA"/>
                </a:solidFill>
                <a:latin typeface="微软雅黑"/>
                <a:ea typeface="微软雅黑"/>
              </a:rPr>
              <a:t>按需 ELF 装载；COW 写回重试；MADV_DONTNEED 真实回收 + 远端 TLB 刷新；</a:t>
            </a:r>
          </a:p>
          <a:p>
            <a:pPr>
              <a:spcAft>
                <a:spcPts val="900"/>
              </a:spcAft>
            </a:pPr>
            <a:r>
              <a:rPr sz="1300" b="1" lang="zh-CN">
                <a:solidFill>
                  <a:srgbClr val="B07CFF"/>
                </a:solidFill>
                <a:latin typeface="微软雅黑"/>
                <a:ea typeface="微软雅黑"/>
              </a:rPr>
              <a:t>▪ 文件系统：</a:t>
            </a:r>
            <a:r>
              <a:rPr sz="1250" b="0" lang="zh-CN">
                <a:solidFill>
                  <a:srgbClr val="F2F2FA"/>
                </a:solidFill>
                <a:latin typeface="微软雅黑"/>
                <a:ea typeface="微软雅黑"/>
              </a:rPr>
              <a:t>ext4 rename 链接计数 / ftruncate st_size / inode 元数据单次解析；稀疏文件语义；64 KiB 管道；</a:t>
            </a:r>
          </a:p>
          <a:p>
            <a:pPr>
              <a:spcAft>
                <a:spcPts val="900"/>
              </a:spcAft>
            </a:pPr>
            <a:r>
              <a:rPr sz="1300" b="1" lang="zh-CN">
                <a:solidFill>
                  <a:srgbClr val="FF9E4F"/>
                </a:solidFill>
                <a:latin typeface="微软雅黑"/>
                <a:ea typeface="微软雅黑"/>
              </a:rPr>
              <a:t>▪ 事件与时间：</a:t>
            </a:r>
            <a:r>
              <a:rPr sz="1250" b="0" lang="zh-CN">
                <a:solidFill>
                  <a:srgbClr val="F2F2FA"/>
                </a:solidFill>
                <a:latin typeface="微软雅黑"/>
                <a:ea typeface="微软雅黑"/>
              </a:rPr>
              <a:t>eventfd / epoll（16 字节 ABI）；Unix socketpair + recvfrom/sendmsg；/proc/uptime 单调计时；网络轮询时基；interval timer 截止提示；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349240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进度：tg-xtask 446 单元预构建完成；cargo xtask arceos build 编译成功且产物 ≥ 500 KiB，获得门槛分 40，并凭编译耗时取得部分加速分。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2600" b="1" lang="zh-CN">
                <a:solidFill>
                  <a:srgbClr val="F2F2FA"/>
                </a:solidFill>
                <a:latin typeface="微软雅黑"/>
                <a:ea typeface="微软雅黑"/>
              </a:rPr>
              <a:t>双盘评测执行链与验证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双盘模型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83664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根盘提供内核启动与用户环境，测试盘挂载 /mnt 后进入评测目录；VFS 以超级块 + 挂载点 + Dentry 合入同一命名空间；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main 分支默认 Shell 入口便于人工调试；评测分支 initproc 自动挂载测试盘 → 运行 CAgent / BuildStorm → 关机；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91840"/>
            <a:ext cx="10881360" cy="18288"/>
          </a:xfrm>
          <a:prstGeom prst="rect">
            <a:avLst/>
          </a:prstGeom>
          <a:solidFill>
            <a:srgbClr val="1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493008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3474720"/>
            <a:ext cx="10314432" cy="38404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分层验证策略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" y="4041648"/>
            <a:ext cx="2651760" cy="1600200"/>
          </a:xfrm>
          <a:prstGeom prst="roundRect">
            <a:avLst>
              <a:gd name="adj" fmla="val 7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986784"/>
            <a:ext cx="2651760" cy="1600200"/>
          </a:xfrm>
          <a:prstGeom prst="roundRect">
            <a:avLst>
              <a:gd name="adj" fmla="val 7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kinsoku="1" overflowPunctuation="1"/>
          <a:lstStyle/>
          <a:p>
            <a:pPr algn="l">
              <a:lnSpc>
                <a:spcPct val="120000"/>
              </a:lnSpc>
            </a:pP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① 单一不变量</a:t>
            </a:r>
          </a:p>
          <a:p>
            <a:pPr algn="l">
              <a:lnSpc>
                <a:spcPct val="120000"/>
              </a:lnSpc>
            </a:pP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smpstress / clonesmptest / affinitytest / futextest / mprotecttest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0148" y="4041648"/>
            <a:ext cx="2651760" cy="1600200"/>
          </a:xfrm>
          <a:prstGeom prst="roundRect">
            <a:avLst>
              <a:gd name="adj" fmla="val 7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29000" y="3986784"/>
            <a:ext cx="2651760" cy="1600200"/>
          </a:xfrm>
          <a:prstGeom prst="roundRect">
            <a:avLst>
              <a:gd name="adj" fmla="val 7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kinsoku="1" overflowPunctuation="1"/>
          <a:lstStyle/>
          <a:p>
            <a:pPr algn="l">
              <a:lnSpc>
                <a:spcPct val="120000"/>
              </a:lnSpc>
            </a:pP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② 双盘多核回归</a:t>
            </a:r>
          </a:p>
          <a:p>
            <a:pPr algn="l">
              <a:lnSpc>
                <a:spcPct val="120000"/>
              </a:lnSpc>
            </a:pP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BusyBox、libc、LTP 子集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9068" y="4041648"/>
            <a:ext cx="2651760" cy="1600200"/>
          </a:xfrm>
          <a:prstGeom prst="roundRect">
            <a:avLst>
              <a:gd name="adj" fmla="val 7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3986784"/>
            <a:ext cx="2651760" cy="1600200"/>
          </a:xfrm>
          <a:prstGeom prst="roundRect">
            <a:avLst>
              <a:gd name="adj" fmla="val 7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kinsoku="1" overflowPunctuation="1"/>
          <a:lstStyle/>
          <a:p>
            <a:pPr algn="l">
              <a:lnSpc>
                <a:spcPct val="120000"/>
              </a:lnSpc>
            </a:pP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③ 决赛链路</a:t>
            </a:r>
          </a:p>
          <a:p>
            <a:pPr algn="l">
              <a:lnSpc>
                <a:spcPct val="120000"/>
              </a:lnSpc>
            </a:pP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CAgent 双架构 → 工具链探测 → tg-xtask 预构建 → BuildStorm 2.2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47987" y="4041648"/>
            <a:ext cx="2651760" cy="1600200"/>
          </a:xfrm>
          <a:prstGeom prst="roundRect">
            <a:avLst>
              <a:gd name="adj" fmla="val 7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06839" y="3986784"/>
            <a:ext cx="2651760" cy="1600200"/>
          </a:xfrm>
          <a:prstGeom prst="roundRect">
            <a:avLst>
              <a:gd name="adj" fmla="val 7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kinsoku="1" overflowPunctuation="1"/>
          <a:lstStyle/>
          <a:p>
            <a:pPr algn="l">
              <a:lnSpc>
                <a:spcPct val="120000"/>
              </a:lnSpc>
            </a:pP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④ 归档</a:t>
            </a:r>
          </a:p>
          <a:p>
            <a:pPr algn="l">
              <a:lnSpc>
                <a:spcPct val="120000"/>
              </a:lnSpc>
            </a:pPr>
            <a:r>
              <a:rPr sz="1300" b="0" lang="zh-CN">
                <a:solidFill>
                  <a:srgbClr val="F2F2FA"/>
                </a:solidFill>
                <a:latin typeface="微软雅黑"/>
                <a:ea typeface="微软雅黑"/>
              </a:rPr>
              <a:t>commit / 镜像哈希 / QEMU 参数 / CPU·内存 / 串口日志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9788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Q2.1 工具链与最小 Rust 工程双架构归档通过；Q2.2 的 tg-xtask 446 单元预构建完成，正式编译已成功并取得部分加速分。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6803136"/>
            <a:ext cx="12100255" cy="54864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548640" y="914400"/>
            <a:ext cx="4572000" cy="36576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6000" b="1" lang="zh-CN">
                <a:solidFill>
                  <a:srgbClr val="2E5078"/>
                </a:solidFill>
                <a:latin typeface="Consolas"/>
                <a:ea typeface="Consola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4200" b="1" lang="zh-CN">
                <a:solidFill>
                  <a:srgbClr val="F2F2FA"/>
                </a:solidFill>
                <a:latin typeface="微软雅黑"/>
                <a:ea typeface="微软雅黑"/>
              </a:rPr>
              <a:t>工程特色与安全</a:t>
            </a:r>
          </a:p>
          <a:p>
            <a:pPr algn="l">
              <a:spcBef>
                <a:spcPts val="600"/>
              </a:spcBef>
            </a:pPr>
            <a:r>
              <a:rPr sz="1300" b="0" lang="zh-CN">
                <a:solidFill>
                  <a:srgbClr val="9093A8"/>
                </a:solidFill>
                <a:latin typeface="微软雅黑"/>
                <a:ea typeface="微软雅黑"/>
              </a:rPr>
              <a:t>Engineering &amp;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00" b="0" lang="zh-CN">
                <a:solidFill>
                  <a:srgbClr val="9093A8"/>
                </a:solidFill>
                <a:latin typeface="微软雅黑"/>
                <a:ea typeface="微软雅黑"/>
              </a:rPr>
              <a:t>VFS/Dentry 架构 · File trait 统一一切文件 · Rust 内存安全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3736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0312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6888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2600" b="1" lang="zh-CN">
                <a:solidFill>
                  <a:srgbClr val="F2F2FA"/>
                </a:solidFill>
                <a:latin typeface="微软雅黑"/>
                <a:ea typeface="微软雅黑"/>
              </a:rPr>
              <a:t>文件系统：VFS 与双盘结构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4846320" cy="4846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83664"/>
            <a:ext cx="4846320" cy="100584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单 Ext4 + 字符串路径无法表达挂载点，也不支持多文件系统实例；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测试盘挂载到 /mnt 后应访问另一块设备；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35808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3017520"/>
            <a:ext cx="10314432" cy="38404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VFS 分层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19856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VfsSuperBlock：文件系统实例；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Dentry：路径缓存节点（正负缓存 + 代际复核）；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Mount：挂载点 → 被挂载根 Dentry；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OSInode / File trait：打开后的统一 I/O 对象；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双盘：bus0 测试盘（/mnt）+ bus1 根盘；打开后删除的文件转 internal orphan，最后 fd 关闭才真正删除。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47588" y="1517904"/>
            <a:ext cx="5852160" cy="4892040"/>
          </a:xfrm>
          <a:prstGeom prst="roundRect">
            <a:avLst>
              <a:gd name="adj" fmla="val 5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06440" y="1463040"/>
            <a:ext cx="5852160" cy="4892040"/>
          </a:xfrm>
          <a:prstGeom prst="roundRect">
            <a:avLst>
              <a:gd name="adj" fmla="val 5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25896" y="1828800"/>
            <a:ext cx="5413248" cy="394106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A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VFS 与双盘结构图@3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341" y="1920240"/>
            <a:ext cx="3274357" cy="375818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35040" y="6035039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ctr"/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VFS 与双盘结构：bus0 测试盘 + bus1 根盘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2600" b="1" lang="zh-CN">
                <a:solidFill>
                  <a:srgbClr val="F2F2FA"/>
                </a:solidFill>
                <a:latin typeface="微软雅黑"/>
                <a:ea typeface="微软雅黑"/>
              </a:rPr>
              <a:t>文件系统：VFS 挂载点穿越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" y="1517904"/>
            <a:ext cx="5852160" cy="4892040"/>
          </a:xfrm>
          <a:prstGeom prst="roundRect">
            <a:avLst>
              <a:gd name="adj" fmla="val 5000"/>
            </a:avLst>
          </a:prstGeom>
          <a:solidFill>
            <a:srgbClr val="05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463040"/>
            <a:ext cx="5852160" cy="4892040"/>
          </a:xfrm>
          <a:prstGeom prst="roundRect">
            <a:avLst>
              <a:gd name="adj" fmla="val 5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9536" y="1828800"/>
            <a:ext cx="5413248" cy="394106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A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VFS 挂载点穿越图@3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758" y="1920240"/>
            <a:ext cx="4574802" cy="375818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6035039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ctr"/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挂载点透明穿越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81328"/>
            <a:ext cx="4846320" cy="4846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路径逐级 vfs_lookup：命中 Dentry 缓存直接返回，未命中读 Ext4 目录项并填充缓存；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遇到挂载点经 lookup_mount 透明切换到被挂载文件系统根 Dentry；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/mnt/foo 的统一路径保持 /mnt/foo，挂载根后的 fs_path 在测试盘解析为 /foo；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「..」感知挂载根，避免从挂载根跳到错误的父节点；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负项缓存 + 目录代际复核，避免缓存命中后目录已变化的 TOCTOU；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2600" b="1" lang="zh-CN">
                <a:solidFill>
                  <a:srgbClr val="F2F2FA"/>
                </a:solidFill>
                <a:latin typeface="微软雅黑"/>
                <a:ea typeface="微软雅黑"/>
              </a:rPr>
              <a:t>工程特色：File trait 与 Rust 内存安全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394960" cy="4846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File trait：一切皆文件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83664"/>
            <a:ext cx="5394960" cy="128016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文件 / 管道 / Socket / 设备 / proc 统一实现 File trait，进入同一 fd 表；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新增设备只需 impl File trait，即可获得 fd、poll、close-on-exec 全生命周期语义；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38728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3520440"/>
            <a:ext cx="10314432" cy="38404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Rust 所有权 + RAII 表达资源生命周期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22776"/>
            <a:ext cx="5394960" cy="219456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FrameTracker：页帧 Drop 自动归还 buddy；PidHandle：PID RAII；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Arc&lt;dyn File&gt;：fd 对象生命周期；Arc/Weak 管理进程树与 Dentry，避免循环引用；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unsafe 集中在陷阱入口、页表、用户指针、MMIO、上下文切换边界；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UPSafeCell 保留于无跨核共享的兼容路径；并发共享对象改由领域锁保护；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92224"/>
            <a:ext cx="5394960" cy="4397349"/>
          </a:xfrm>
          <a:prstGeom prst="rect">
            <a:avLst/>
          </a:prstGeom>
          <a:solidFill>
            <a:srgbClr val="15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73152" tIns="91440" kinsoku="1" overflowPunctuation="1"/>
          <a:lstStyle/>
          <a:p>
            <a:pPr algn="ctr">
              <a:lnSpc>
                <a:spcPct val="103000"/>
              </a:lnSpc>
              <a:spcAft>
                <a:spcPts val="100"/>
              </a:spcAft>
            </a:pPr>
            <a:r>
              <a:rPr sz="1100" b="1" lang="zh-CN">
                <a:solidFill>
                  <a:srgbClr val="38E4FF"/>
                </a:solidFill>
                <a:latin typeface="Consolas"/>
                <a:ea typeface="Consolas"/>
              </a:rPr>
              <a:t>impl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FF9E4F"/>
                </a:solidFill>
                <a:latin typeface="Consolas"/>
                <a:ea typeface="Consolas"/>
              </a:rPr>
              <a:t>Drop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1" lang="zh-CN">
                <a:solidFill>
                  <a:srgbClr val="38E4FF"/>
                </a:solidFill>
                <a:latin typeface="Consolas"/>
                <a:ea typeface="Consolas"/>
              </a:rPr>
              <a:t>for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FF9E4F"/>
                </a:solidFill>
                <a:latin typeface="Consolas"/>
                <a:ea typeface="Consolas"/>
              </a:rPr>
              <a:t>FrameTracker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{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1" lang="zh-CN">
                <a:solidFill>
                  <a:srgbClr val="38E4FF"/>
                </a:solidFill>
                <a:latin typeface="Consolas"/>
                <a:ea typeface="Consolas"/>
              </a:rPr>
              <a:t>fn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drop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&amp;</a:t>
            </a:r>
            <a:r>
              <a:rPr sz="1100" b="1" lang="zh-CN">
                <a:solidFill>
                  <a:srgbClr val="38E4FF"/>
                </a:solidFill>
                <a:latin typeface="Consolas"/>
                <a:ea typeface="Consolas"/>
              </a:rPr>
              <a:t>mut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self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{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1" lang="zh-CN">
                <a:solidFill>
                  <a:srgbClr val="38E4FF"/>
                </a:solidFill>
                <a:latin typeface="Consolas"/>
                <a:ea typeface="Consolas"/>
              </a:rPr>
              <a:t>let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1" lang="zh-CN">
                <a:solidFill>
                  <a:srgbClr val="38E4FF"/>
                </a:solidFill>
                <a:latin typeface="Consolas"/>
                <a:ea typeface="Consolas"/>
              </a:rPr>
              <a:t>mut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refs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=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FF9E4F"/>
                </a:solidFill>
                <a:latin typeface="Consolas"/>
                <a:ea typeface="Consolas"/>
              </a:rPr>
              <a:t>FRAME_REFS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lock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1" lang="zh-CN">
                <a:solidFill>
                  <a:srgbClr val="38E4FF"/>
                </a:solidFill>
                <a:latin typeface="Consolas"/>
                <a:ea typeface="Consolas"/>
              </a:rPr>
              <a:t>let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key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=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ref_key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self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paddr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1" lang="zh-CN">
                <a:solidFill>
                  <a:srgbClr val="38E4FF"/>
                </a:solidFill>
                <a:latin typeface="Consolas"/>
                <a:ea typeface="Consolas"/>
              </a:rPr>
              <a:t>if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1" lang="zh-CN">
                <a:solidFill>
                  <a:srgbClr val="38E4FF"/>
                </a:solidFill>
                <a:latin typeface="Consolas"/>
                <a:ea typeface="Consolas"/>
              </a:rPr>
              <a:t>let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FF9E4F"/>
                </a:solidFill>
                <a:latin typeface="Consolas"/>
                <a:ea typeface="Consolas"/>
              </a:rPr>
              <a:t>Some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count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=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refs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get_mut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&amp;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key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{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1" lang="zh-CN">
                <a:solidFill>
                  <a:srgbClr val="38E4FF"/>
                </a:solidFill>
                <a:latin typeface="Consolas"/>
                <a:ea typeface="Consolas"/>
              </a:rPr>
              <a:t>if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*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count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&gt;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B07CFF"/>
                </a:solidFill>
                <a:latin typeface="Consolas"/>
                <a:ea typeface="Consolas"/>
              </a:rPr>
              <a:t>2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{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*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count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-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=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B07CFF"/>
                </a:solidFill>
                <a:latin typeface="Consolas"/>
                <a:ea typeface="Consolas"/>
              </a:rPr>
              <a:t>1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;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}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5A6279"/>
                </a:solidFill>
                <a:latin typeface="Consolas"/>
                <a:ea typeface="Consolas"/>
              </a:rPr>
              <a:t>// 共享递减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1" lang="zh-CN">
                <a:solidFill>
                  <a:srgbClr val="38E4FF"/>
                </a:solidFill>
                <a:latin typeface="Consolas"/>
                <a:ea typeface="Consolas"/>
              </a:rPr>
              <a:t>else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{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refs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remove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&amp;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key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;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}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1" lang="zh-CN">
                <a:solidFill>
                  <a:srgbClr val="38E4FF"/>
                </a:solidFill>
                <a:latin typeface="Consolas"/>
                <a:ea typeface="Consolas"/>
              </a:rPr>
              <a:t>return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}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frame_dealloc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self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.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paddr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;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5A6279"/>
                </a:solidFill>
                <a:latin typeface="Consolas"/>
                <a:ea typeface="Consolas"/>
              </a:rPr>
              <a:t>// 归还物理页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}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}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1" lang="zh-CN">
                <a:solidFill>
                  <a:srgbClr val="38E4FF"/>
                </a:solidFill>
                <a:latin typeface="Consolas"/>
                <a:ea typeface="Consolas"/>
              </a:rPr>
              <a:t>pub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1" lang="zh-CN">
                <a:solidFill>
                  <a:srgbClr val="38E4FF"/>
                </a:solidFill>
                <a:latin typeface="Consolas"/>
                <a:ea typeface="Consolas"/>
              </a:rPr>
              <a:t>trait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FF9E4F"/>
                </a:solidFill>
                <a:latin typeface="Consolas"/>
                <a:ea typeface="Consolas"/>
              </a:rPr>
              <a:t>File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: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FF9E4F"/>
                </a:solidFill>
                <a:latin typeface="Consolas"/>
                <a:ea typeface="Consolas"/>
              </a:rPr>
              <a:t>Send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+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FF9E4F"/>
                </a:solidFill>
                <a:latin typeface="Consolas"/>
                <a:ea typeface="Consolas"/>
              </a:rPr>
              <a:t>Sync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{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1" lang="zh-CN">
                <a:solidFill>
                  <a:srgbClr val="38E4FF"/>
                </a:solidFill>
                <a:latin typeface="Consolas"/>
                <a:ea typeface="Consolas"/>
              </a:rPr>
              <a:t>fn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read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&amp;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self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,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buf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: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&amp;</a:t>
            </a:r>
            <a:r>
              <a:rPr sz="1100" b="1" lang="zh-CN">
                <a:solidFill>
                  <a:srgbClr val="38E4FF"/>
                </a:solidFill>
                <a:latin typeface="Consolas"/>
                <a:ea typeface="Consolas"/>
              </a:rPr>
              <a:t>mut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[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u8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]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-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&gt;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isize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1" lang="zh-CN">
                <a:solidFill>
                  <a:srgbClr val="38E4FF"/>
                </a:solidFill>
                <a:latin typeface="Consolas"/>
                <a:ea typeface="Consolas"/>
              </a:rPr>
              <a:t>fn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write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&amp;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self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,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buf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: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&amp;</a:t>
            </a:r>
            <a:r>
              <a:rPr sz="1100" b="1" lang="zh-CN">
                <a:solidFill>
                  <a:srgbClr val="38E4FF"/>
                </a:solidFill>
                <a:latin typeface="Consolas"/>
                <a:ea typeface="Consolas"/>
              </a:rPr>
              <a:t>mut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[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u8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]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-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&gt;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isize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1" lang="zh-CN">
                <a:solidFill>
                  <a:srgbClr val="38E4FF"/>
                </a:solidFill>
                <a:latin typeface="Consolas"/>
                <a:ea typeface="Consolas"/>
              </a:rPr>
              <a:t>fn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stat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&amp;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self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-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&gt;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FF9E4F"/>
                </a:solidFill>
                <a:latin typeface="Consolas"/>
                <a:ea typeface="Consolas"/>
              </a:rPr>
              <a:t>Kstat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1" lang="zh-CN">
                <a:solidFill>
                  <a:srgbClr val="38E4FF"/>
                </a:solidFill>
                <a:latin typeface="Consolas"/>
                <a:ea typeface="Consolas"/>
              </a:rPr>
              <a:t>fn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poll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&amp;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self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-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&gt;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bool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,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bool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,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bool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1" lang="zh-CN">
                <a:solidFill>
                  <a:srgbClr val="38E4FF"/>
                </a:solidFill>
                <a:latin typeface="Consolas"/>
                <a:ea typeface="Consolas"/>
              </a:rPr>
              <a:t>fn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dup_ref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&amp;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self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{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}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5A6279"/>
                </a:solidFill>
                <a:latin typeface="Consolas"/>
                <a:ea typeface="Consolas"/>
              </a:rPr>
              <a:t>// fd 复制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1" lang="zh-CN">
                <a:solidFill>
                  <a:srgbClr val="38E4FF"/>
                </a:solidFill>
                <a:latin typeface="Consolas"/>
                <a:ea typeface="Consolas"/>
              </a:rPr>
              <a:t>fn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close_ref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(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&amp;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self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)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{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}</a:t>
            </a: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 </a:t>
            </a:r>
            <a:r>
              <a:rPr sz="1100" b="0" lang="zh-CN">
                <a:solidFill>
                  <a:srgbClr val="5A6279"/>
                </a:solidFill>
                <a:latin typeface="Consolas"/>
                <a:ea typeface="Consolas"/>
              </a:rPr>
              <a:t>// fd 关闭</a:t>
            </a:r>
          </a:p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100" b="0" lang="zh-CN">
                <a:solidFill>
                  <a:srgbClr val="D8E3F2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481328"/>
            <a:ext cx="5394960" cy="310896"/>
          </a:xfrm>
          <a:prstGeom prst="rect">
            <a:avLst/>
          </a:prstGeom>
          <a:solidFill>
            <a:srgbClr val="060812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9944" y="1574596"/>
            <a:ext cx="124358" cy="124358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29400" y="1574596"/>
            <a:ext cx="124358" cy="124358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48856" y="1574596"/>
            <a:ext cx="124358" cy="124358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1495044"/>
            <a:ext cx="4206240" cy="283464"/>
          </a:xfrm>
          <a:prstGeom prst="rect">
            <a:avLst/>
          </a:prstGeom>
          <a:noFill/>
        </p:spPr>
        <p:txBody>
          <a:bodyPr wrap="square" anchor="ctr" lIns="0" rIns="0" tIns="0" bIns="0" kinsoku="1" overflowPunctuation="1">
            <a:spAutoFit/>
          </a:bodyPr>
          <a:lstStyle/>
          <a:p>
            <a:pPr algn="l"/>
            <a:r>
              <a:rPr sz="1100" b="1" lang="zh-CN">
                <a:solidFill>
                  <a:srgbClr val="9093A8"/>
                </a:solidFill>
                <a:latin typeface="微软雅黑"/>
                <a:ea typeface="微软雅黑"/>
              </a:rPr>
              <a:t>RAII 页帧回收 + File trait 定义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1495044"/>
            <a:ext cx="2560320" cy="283464"/>
          </a:xfrm>
          <a:prstGeom prst="rect">
            <a:avLst/>
          </a:prstGeom>
          <a:noFill/>
        </p:spPr>
        <p:txBody>
          <a:bodyPr wrap="square" anchor="ctr" lIns="0" rIns="0" tIns="0" bIns="0" kinsoku="1" overflowPunctuation="1">
            <a:spAutoFit/>
          </a:bodyPr>
          <a:lstStyle/>
          <a:p>
            <a:pPr algn="r"/>
            <a:r>
              <a:rPr sz="950" b="0" lang="zh-CN">
                <a:solidFill>
                  <a:srgbClr val="505364"/>
                </a:solidFill>
                <a:latin typeface="微软雅黑"/>
                <a:ea typeface="微软雅黑"/>
              </a:rPr>
              <a:t>mm/frame_allocator.rs · fs/mod.rs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6803136"/>
            <a:ext cx="12100255" cy="54864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548640" y="914400"/>
            <a:ext cx="4572000" cy="36576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6000" b="1" lang="zh-CN">
                <a:solidFill>
                  <a:srgbClr val="2E5078"/>
                </a:solidFill>
                <a:latin typeface="Consolas"/>
                <a:ea typeface="Consola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4200" b="1" lang="zh-CN">
                <a:solidFill>
                  <a:srgbClr val="F2F2FA"/>
                </a:solidFill>
                <a:latin typeface="微软雅黑"/>
                <a:ea typeface="微软雅黑"/>
              </a:rPr>
              <a:t>技术问题与解决方案</a:t>
            </a:r>
          </a:p>
          <a:p>
            <a:pPr algn="l">
              <a:spcBef>
                <a:spcPts val="600"/>
              </a:spcBef>
            </a:pPr>
            <a:r>
              <a:rPr sz="1300" b="0" lang="zh-CN">
                <a:solidFill>
                  <a:srgbClr val="9093A8"/>
                </a:solidFill>
                <a:latin typeface="微软雅黑"/>
                <a:ea typeface="微软雅黑"/>
              </a:rPr>
              <a:t>Problems &amp;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00" b="0" lang="zh-CN">
                <a:solidFill>
                  <a:srgbClr val="9093A8"/>
                </a:solidFill>
                <a:latin typeface="微软雅黑"/>
                <a:ea typeface="微软雅黑"/>
              </a:rPr>
              <a:t>四类代表性案例：VFS / COW / mmap / SMP 阻塞唤醒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3736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0312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6888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2600" b="1" lang="zh-CN">
                <a:solidFill>
                  <a:srgbClr val="F2F2FA"/>
                </a:solidFill>
                <a:latin typeface="微软雅黑"/>
                <a:ea typeface="微软雅黑"/>
              </a:rPr>
              <a:t>四类代表性技术问题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81328"/>
            <a:ext cx="10881360" cy="365760"/>
          </a:xfrm>
          <a:prstGeom prst="roundRect">
            <a:avLst>
              <a:gd name="adj" fmla="val 8000"/>
            </a:avLst>
          </a:prstGeom>
          <a:solidFill>
            <a:srgbClr val="060812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27048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350" b="1" lang="zh-CN">
                <a:solidFill>
                  <a:srgbClr val="38E4FF"/>
                </a:solidFill>
                <a:latin typeface="微软雅黑"/>
                <a:ea typeface="微软雅黑"/>
              </a:rPr>
              <a:t>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1527048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350" b="1" lang="zh-CN">
                <a:solidFill>
                  <a:srgbClr val="38E4FF"/>
                </a:solidFill>
                <a:latin typeface="微软雅黑"/>
                <a:ea typeface="微软雅黑"/>
              </a:rPr>
              <a:t>现象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527048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350" b="1" lang="zh-CN">
                <a:solidFill>
                  <a:srgbClr val="38E4FF"/>
                </a:solidFill>
                <a:latin typeface="微软雅黑"/>
                <a:ea typeface="微软雅黑"/>
              </a:rPr>
              <a:t>根因分析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527048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350" b="1" lang="zh-CN">
                <a:solidFill>
                  <a:srgbClr val="38E4FF"/>
                </a:solidFill>
                <a:latin typeface="微软雅黑"/>
                <a:ea typeface="微软雅黑"/>
              </a:rPr>
              <a:t>方案与验证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956816"/>
            <a:ext cx="10881360" cy="1078992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029968"/>
            <a:ext cx="1920240" cy="9144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400" b="1" lang="zh-CN">
                <a:solidFill>
                  <a:srgbClr val="38E4FF"/>
                </a:solidFill>
                <a:latin typeface="微软雅黑"/>
                <a:ea typeface="微软雅黑"/>
              </a:rPr>
              <a:t>VFS / Ext4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029968"/>
            <a:ext cx="3840480" cy="9144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lang="zh-CN">
                <a:solidFill>
                  <a:srgbClr val="F2F2FA"/>
                </a:solidFill>
                <a:latin typeface="微软雅黑"/>
                <a:ea typeface="微软雅黑"/>
              </a:rPr>
              <a:t>双盘路径解析、并发创建或重命名得到陈旧目录项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029968"/>
            <a:ext cx="2514600" cy="9144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字符串路径 + 线性缓存无法表达挂载边界、目录修改与缓存代际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029968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lang="zh-CN">
                <a:solidFill>
                  <a:srgbClr val="38E4FF"/>
                </a:solidFill>
                <a:latin typeface="微软雅黑"/>
                <a:ea typeface="微软雅黑"/>
              </a:rPr>
              <a:t>Dentry / 超级块 / 目录变更锁 + 正负缓存 + 代际复核；双盘并发压力验证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45536"/>
            <a:ext cx="10881360" cy="1078992"/>
          </a:xfrm>
          <a:prstGeom prst="roundRect">
            <a:avLst>
              <a:gd name="adj" fmla="val 6000"/>
            </a:avLst>
          </a:prstGeom>
          <a:solidFill>
            <a:srgbClr val="1B2138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218688"/>
            <a:ext cx="1920240" cy="9144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400" b="1" lang="zh-CN">
                <a:solidFill>
                  <a:srgbClr val="36F9A8"/>
                </a:solidFill>
                <a:latin typeface="微软雅黑"/>
                <a:ea typeface="微软雅黑"/>
              </a:rPr>
              <a:t>多核 COW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3218688"/>
            <a:ext cx="3840480" cy="9144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lang="zh-CN">
                <a:solidFill>
                  <a:srgbClr val="F2F2FA"/>
                </a:solidFill>
                <a:latin typeface="微软雅黑"/>
                <a:ea typeface="微软雅黑"/>
              </a:rPr>
              <a:t>并发 fork 后向用户缓冲区写回偶发失败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218688"/>
            <a:ext cx="2514600" cy="9144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页准备完成后共享页被另一线程重新写保护；跨核保留陈旧 TLB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218688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lang="zh-CN">
                <a:solidFill>
                  <a:srgbClr val="38E4FF"/>
                </a:solidFill>
                <a:latin typeface="微软雅黑"/>
                <a:ea typeface="微软雅黑"/>
              </a:rPr>
              <a:t>写回前准备全部用户页，失败重新处理 COW 并重试；共享地址空间变化后远端 TLB 刷新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334256"/>
            <a:ext cx="10881360" cy="1078992"/>
          </a:xfrm>
          <a:prstGeom prst="roundRect">
            <a:avLst>
              <a:gd name="adj" fmla="val 6000"/>
            </a:avLst>
          </a:prstGeom>
          <a:solidFill>
            <a:srgbClr val="101424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407408"/>
            <a:ext cx="1920240" cy="9144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400" b="1" lang="zh-CN">
                <a:solidFill>
                  <a:srgbClr val="B07CFF"/>
                </a:solidFill>
                <a:latin typeface="微软雅黑"/>
                <a:ea typeface="微软雅黑"/>
              </a:rPr>
              <a:t>mmap 边界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4407408"/>
            <a:ext cx="3840480" cy="9144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lang="zh-CN">
                <a:solidFill>
                  <a:srgbClr val="F2F2FA"/>
                </a:solidFill>
                <a:latin typeface="微软雅黑"/>
                <a:ea typeface="微软雅黑"/>
              </a:rPr>
              <a:t>mmap(NULL,...) 与 CLONE_VM 并发可能重叠或错误回收页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407408"/>
            <a:ext cx="2514600" cy="9144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自动选址、VMA 发布、溢出检查与失效回收分散执行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4407408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lang="zh-CN">
                <a:solidFill>
                  <a:srgbClr val="38E4FF"/>
                </a:solidFill>
                <a:latin typeface="微软雅黑"/>
                <a:ea typeface="微软雅黑"/>
              </a:rPr>
              <a:t>共享 VMA 锁内原子选址与发布；检查溢出；MAP_FIXED 失效后刷新活跃 CPU 的 TLB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522976"/>
            <a:ext cx="10881360" cy="1078992"/>
          </a:xfrm>
          <a:prstGeom prst="roundRect">
            <a:avLst>
              <a:gd name="adj" fmla="val 6000"/>
            </a:avLst>
          </a:prstGeom>
          <a:solidFill>
            <a:srgbClr val="1B2138"/>
          </a:solidFill>
          <a:ln w="12700">
            <a:solidFill>
              <a:srgbClr val="1E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596128"/>
            <a:ext cx="1920240" cy="9144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400" b="1" lang="zh-CN">
                <a:solidFill>
                  <a:srgbClr val="FF9E4F"/>
                </a:solidFill>
                <a:latin typeface="微软雅黑"/>
                <a:ea typeface="微软雅黑"/>
              </a:rPr>
              <a:t>SMP 阻塞唤醒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5596128"/>
            <a:ext cx="3840480" cy="9144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lang="zh-CN">
                <a:solidFill>
                  <a:srgbClr val="F2F2FA"/>
                </a:solidFill>
                <a:latin typeface="微软雅黑"/>
                <a:ea typeface="微软雅黑"/>
              </a:rPr>
              <a:t>wait / futex / pipe / poll 出现丢失唤醒或锁反转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5596128"/>
            <a:ext cx="2514600" cy="9144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lang="zh-CN">
                <a:solidFill>
                  <a:srgbClr val="9093A8"/>
                </a:solidFill>
                <a:latin typeface="微软雅黑"/>
                <a:ea typeface="微软雅黑"/>
              </a:rPr>
              <a:t>「检查条件—登记等待—切出」不是原子过程，唤醒不能越过未保存上下文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5596128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lang="zh-CN">
                <a:solidFill>
                  <a:srgbClr val="38E4FF"/>
                </a:solidFill>
                <a:latin typeface="微软雅黑"/>
                <a:ea typeface="微软雅黑"/>
              </a:rPr>
              <a:t>显式状态机（Blocking/WakePending/Blocked/Ready）+ 固定锁序 + lockdep 诊断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6803136"/>
            <a:ext cx="12100255" cy="54864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548640" y="914400"/>
            <a:ext cx="4572000" cy="36576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6000" b="1" lang="zh-CN">
                <a:solidFill>
                  <a:srgbClr val="2E5078"/>
                </a:solidFill>
                <a:latin typeface="Consolas"/>
                <a:ea typeface="Consola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4200" b="1" lang="zh-CN">
                <a:solidFill>
                  <a:srgbClr val="F2F2FA"/>
                </a:solidFill>
                <a:latin typeface="微软雅黑"/>
                <a:ea typeface="微软雅黑"/>
              </a:rPr>
              <a:t>总结与展望</a:t>
            </a:r>
          </a:p>
          <a:p>
            <a:pPr algn="l">
              <a:spcBef>
                <a:spcPts val="600"/>
              </a:spcBef>
            </a:pPr>
            <a:r>
              <a:rPr sz="1300" b="0" lang="zh-CN">
                <a:solidFill>
                  <a:srgbClr val="9093A8"/>
                </a:solidFill>
                <a:latin typeface="微软雅黑"/>
                <a:ea typeface="微软雅黑"/>
              </a:rPr>
              <a:t>Summary &amp; Outlook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00" b="0" lang="zh-CN">
                <a:solidFill>
                  <a:srgbClr val="9093A8"/>
                </a:solidFill>
                <a:latin typeface="微软雅黑"/>
                <a:ea typeface="微软雅黑"/>
              </a:rPr>
              <a:t>经验总结 · 后续计划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3736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0312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6888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0" y="3840480"/>
            <a:ext cx="73152" cy="73152"/>
          </a:xfrm>
          <a:prstGeom prst="roundRect">
            <a:avLst>
              <a:gd name="adj" fmla="val 50000"/>
            </a:avLst>
          </a:prstGeom>
          <a:solidFill>
            <a:srgbClr val="20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6831" cy="603504"/>
          </a:xfrm>
          <a:prstGeom prst="rect">
            <a:avLst/>
          </a:prstGeom>
          <a:solidFill>
            <a:srgbClr val="060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603504"/>
            <a:ext cx="12136831" cy="41148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"/>
            <a:ext cx="146304" cy="274320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2600" b="1" lang="zh-CN">
                <a:solidFill>
                  <a:srgbClr val="F2F2FA"/>
                </a:solidFill>
                <a:latin typeface="微软雅黑"/>
                <a:ea typeface="微软雅黑"/>
              </a:rPr>
              <a:t>工作总结与展望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99616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7" y="1481328"/>
            <a:ext cx="10314432" cy="38404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工作总结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83664"/>
            <a:ext cx="10881360" cy="16459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从 rCore 教学内核演进为面向 QEMU 双架构竞赛环境的 SMP 内核：RISC-V（≤8 核）与 LoongArch（≤12 核）；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能力：进程/线程、COW、按需虚拟内存、VFS + Ext4 双盘、VirtIO 块设备与网络、信号/futex、eventfd/epoll/pipe/socketpair、TCP/UDP；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0" lang="zh-CN">
                <a:solidFill>
                  <a:srgbClr val="38E4FF"/>
                </a:solidFill>
                <a:latin typeface="微软雅黑"/>
                <a:ea typeface="微软雅黑"/>
              </a:rPr>
              <a:t>▪  </a:t>
            </a: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初赛 1906 分 / 第 47 名 → 决赛 709 分 / 第 10 名；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611880"/>
            <a:ext cx="10881360" cy="18288"/>
          </a:xfrm>
          <a:prstGeom prst="rect">
            <a:avLst/>
          </a:prstGeom>
          <a:solidFill>
            <a:srgbClr val="1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813048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3794760"/>
            <a:ext cx="10314432" cy="384048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550" b="1" lang="zh-CN">
                <a:solidFill>
                  <a:srgbClr val="F2F2FA"/>
                </a:solidFill>
                <a:latin typeface="微软雅黑"/>
                <a:ea typeface="微软雅黑"/>
              </a:rPr>
              <a:t>经验总结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97096"/>
            <a:ext cx="10881360" cy="173736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>
              <a:spcAft>
                <a:spcPts val="700"/>
              </a:spcAft>
            </a:pP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▪ 接口正确不等于系统正确：先明确对象所有权、转移时机与回收边界，再谈局部实现；</a:t>
            </a:r>
          </a:p>
          <a:p>
            <a:pPr>
              <a:spcAft>
                <a:spcPts val="700"/>
              </a:spcAft>
            </a:pP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▪ 多核改造的核心是协议而非加锁：Blocking/WakePending、SchedulerLock→TaskLock、lockdep 使偶发卡死可验证；</a:t>
            </a:r>
          </a:p>
          <a:p>
            <a:pPr>
              <a:spcAft>
                <a:spcPts val="700"/>
              </a:spcAft>
            </a:pP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▪ 真实复杂负载（BuildStorm）比单项微测试更能揭示内核边界；</a:t>
            </a:r>
          </a:p>
          <a:p>
            <a:pPr>
              <a:spcAft>
                <a:spcPts val="700"/>
              </a:spcAft>
            </a:pPr>
            <a:r>
              <a:rPr sz="1400" b="0" lang="zh-CN">
                <a:solidFill>
                  <a:srgbClr val="F2F2FA"/>
                </a:solidFill>
                <a:latin typeface="微软雅黑"/>
                <a:ea typeface="微软雅黑"/>
              </a:rPr>
              <a:t>▪ 可追溯验证与修复同等重要：分支分离、保存镜像哈希与 QEMU 参数、干净覆盖层、失败样本；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l"/>
            <a:r>
              <a:rPr sz="1300" b="1" lang="zh-CN">
                <a:solidFill>
                  <a:srgbClr val="38E4FF"/>
                </a:solidFill>
                <a:latin typeface="微软雅黑"/>
                <a:ea typeface="微软雅黑"/>
              </a:rPr>
              <a:t>展望：完整官方链路回归 · 负载均衡/迁移/诊断 · 文件系统并发元数据与回收 · 更多 LTP 子集与网络协议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932920" y="6601968"/>
            <a:ext cx="256032" cy="256032"/>
          </a:xfrm>
          <a:prstGeom prst="rect">
            <a:avLst/>
          </a:prstGeom>
          <a:solidFill>
            <a:srgbClr val="36F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</p:spPr>
        <p:txBody>
          <a:bodyPr wrap="square" anchor="ctr" lIns="0" rIns="0" tIns="0" bIns="0" kinsoku="1" overflowPunctuation="1">
            <a:spAutoFit/>
          </a:bodyPr>
          <a:lstStyle/>
          <a:p>
            <a:pPr algn="ctr"/>
            <a:r>
              <a:rPr sz="6000" b="1" lang="zh-CN">
                <a:solidFill>
                  <a:srgbClr val="F2F2FA"/>
                </a:solidFill>
                <a:latin typeface="微软雅黑"/>
                <a:ea typeface="微软雅黑"/>
              </a:rPr>
              <a:t>谢谢聆听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ctr"/>
            <a:r>
              <a:rPr sz="2400" b="0" lang="zh-CN">
                <a:solidFill>
                  <a:srgbClr val="38E4FF"/>
                </a:solidFill>
                <a:latin typeface="微软雅黑"/>
                <a:ea typeface="微软雅黑"/>
              </a:rPr>
              <a:t>Q &amp; 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93208" y="4709160"/>
            <a:ext cx="2011680" cy="27432"/>
          </a:xfrm>
          <a:prstGeom prst="rect">
            <a:avLst/>
          </a:prstGeom>
          <a:solidFill>
            <a:srgbClr val="38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ctr"/>
            <a:r>
              <a:rPr sz="1500" b="0" lang="zh-CN">
                <a:solidFill>
                  <a:srgbClr val="9093A8"/>
                </a:solidFill>
                <a:latin typeface="微软雅黑"/>
                <a:ea typeface="微软雅黑"/>
              </a:rPr>
              <a:t>ScintillaOS · 基于 Rust · rCore-Tutorial 扩展 · 2026 OS 设计大赛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ctr"/>
            <a:r>
              <a:rPr sz="1500" b="0" lang="zh-CN">
                <a:solidFill>
                  <a:srgbClr val="9093A8"/>
                </a:solidFill>
                <a:latin typeface="微软雅黑"/>
                <a:ea typeface="微软雅黑"/>
              </a:rPr>
              <a:t>武汉大学 · 雷雨泽  杜宇恒  宋天琦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3112" y="1097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 kinsoku="1" overflowPunctuation="1">
            <a:spAutoFit/>
          </a:bodyPr>
          <a:lstStyle/>
          <a:p>
            <a:pPr algn="r"/>
            <a:r>
              <a:rPr sz="900" b="0" lang="zh-CN">
                <a:solidFill>
                  <a:srgbClr val="505364"/>
                </a:solidFill>
                <a:latin typeface="微软雅黑"/>
                <a:ea typeface="微软雅黑"/>
              </a:rPr>
              <a:t>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